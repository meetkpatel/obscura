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human_crop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19672" y="0"/>
            <a:ext cx="54864" cy="6858000"/>
          </a:xfrm>
          <a:prstGeom prst="rect">
            <a:avLst/>
          </a:prstGeom>
          <a:solidFill>
            <a:srgbClr val="2FB48C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B48C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141732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5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04672" y="237744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9DC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AI for the clinics America runs on.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04672" y="3291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tools. One laptop. Zero cloud.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04672" y="4069080"/>
            <a:ext cx="384048" cy="384048"/>
          </a:xfrm>
          <a:prstGeom prst="ellipse">
            <a:avLst/>
          </a:prstGeom>
          <a:solidFill>
            <a:srgbClr val="3E8FD0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298448" y="40507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02152" y="4069080"/>
            <a:ext cx="384048" cy="384048"/>
          </a:xfrm>
          <a:prstGeom prst="ellipse">
            <a:avLst/>
          </a:prstGeom>
          <a:solidFill>
            <a:srgbClr val="D95550"/>
          </a:solidFill>
          <a:ln/>
        </p:spPr>
      </p:sp>
      <p:sp>
        <p:nvSpPr>
          <p:cNvPr id="12" name="Text 9"/>
          <p:cNvSpPr/>
          <p:nvPr/>
        </p:nvSpPr>
        <p:spPr>
          <a:xfrm>
            <a:off x="3502152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995928" y="40507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4672" y="4754880"/>
            <a:ext cx="384048" cy="38404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2"/>
          <p:cNvSpPr/>
          <p:nvPr/>
        </p:nvSpPr>
        <p:spPr>
          <a:xfrm>
            <a:off x="804672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98448" y="47365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502152" y="4754880"/>
            <a:ext cx="384048" cy="384048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18" name="Text 15"/>
          <p:cNvSpPr/>
          <p:nvPr/>
        </p:nvSpPr>
        <p:spPr>
          <a:xfrm>
            <a:off x="3502152" y="4736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995928" y="473659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" y="576072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“Build &amp; Hack with Gemma 4.0”  ·  July 2026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github.com/meetkpatel/Obscura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medicine is drowning in unpaid computer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916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hrs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desk + EHR work for every 1 hour of direct patient care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Sinsky et al., Annals of Internal Medicine (AMA time-motion study)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25112" y="14630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6916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$9.8M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53712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healthcare data breach — the costliest industry 14 years running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53712" y="3657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Report, 2024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01584" y="146304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0184" y="16916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31M+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330184" y="26974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depend on community health centers that run on thin margins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30184" y="3657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HRSA Health Center Program data, 2023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EA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17720"/>
            <a:ext cx="10469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stat is the same clinic:  </a:t>
            </a:r>
            <a:pPr indent="0" marL="0">
              <a:buNone/>
            </a:pPr>
            <a:r>
              <a:rPr lang="en-US" sz="150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department, no compliance officer, no enterprise software budget — and a front-desk laptop holding thousands of patient records. The paperwork burden falls on the clinicians who can least afford the time, at the practices that can least afford the tools.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clinics that need AI most are the ones that can’t use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128016" cy="2743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scribes and document tools list at roughly $99–$600 per clinician per month. A safety-net clinic with five providers is looking at up to $36k a year — for one tool.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4630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25112" y="1463040"/>
            <a:ext cx="128016" cy="2743200"/>
          </a:xfrm>
          <a:prstGeom prst="rect">
            <a:avLst/>
          </a:prstGeom>
          <a:solidFill>
            <a:srgbClr val="D95550"/>
          </a:solidFill>
          <a:ln/>
        </p:spPr>
      </p:sp>
      <p:sp>
        <p:nvSpPr>
          <p:cNvPr id="9" name="Text 7"/>
          <p:cNvSpPr/>
          <p:nvPr/>
        </p:nvSpPr>
        <p:spPr>
          <a:xfrm>
            <a:off x="4645152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21488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AI tools won’t sign a Business Associate Agreement. Pasting a patient note into a chatbot isn’t a shortcut — it’s a HIPAA disclosure. The upload is the breach.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1463040"/>
            <a:ext cx="35204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01584" y="1463040"/>
            <a:ext cx="128016" cy="2743200"/>
          </a:xfrm>
          <a:prstGeom prst="rect">
            <a:avLst/>
          </a:prstGeom>
          <a:solidFill>
            <a:srgbClr val="3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8421624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21624" y="21488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assumes an IT department to vet vendors, manage deployments, and harden machines. Most small practices have nobody whose job that 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0B182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709160"/>
            <a:ext cx="104698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weights changed the math.  </a:t>
            </a:r>
            <a:pPr indent="0" marL="0">
              <a:buNone/>
            </a:pPr>
            <a:r>
              <a:rPr lang="en-US" sz="15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(Apache-2.0) now runs frontier-grade reasoning on a stock laptop — no account, no per-seat fee, no data leaving the building. For the first time, the fast tool and the compliant tool are the same tool.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engine. Four prongs. Every byte stays in the building.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691640"/>
            <a:ext cx="457200" cy="457200"/>
          </a:xfrm>
          <a:prstGeom prst="ellipse">
            <a:avLst/>
          </a:prstGeom>
          <a:solidFill>
            <a:srgbClr val="3E8FD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89888" y="1700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3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212140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writes itself. On-device speech-to-note — audio never touches a server.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74136" y="14173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30168" y="1691640"/>
            <a:ext cx="457200" cy="457200"/>
          </a:xfrm>
          <a:prstGeom prst="ellipse">
            <a:avLst/>
          </a:prstGeom>
          <a:solidFill>
            <a:srgbClr val="D95550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15384" y="1700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D9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630168" y="2377440"/>
            <a:ext cx="212140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record, not the patient. HIPAA Safe Harbor redaction that destroys data and proves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14173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5664" y="1691640"/>
            <a:ext cx="457200" cy="45720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455664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40880" y="1700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55664" y="2377440"/>
            <a:ext cx="212140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$0 IT department. Read-only scan for exposed secrets, weak config, and slow hardware.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25128" y="14173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1691640"/>
            <a:ext cx="457200" cy="457200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673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66376" y="170078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81160" y="2377440"/>
            <a:ext cx="2121408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that name themselves. Gemma reads page one, proposes clean names — with one-click Undo.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prong runs the same trust loop: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2920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376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48840" y="49834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/>
        </p:spPr>
      </p:sp>
      <p:sp>
        <p:nvSpPr>
          <p:cNvPr id="28" name="Text 26"/>
          <p:cNvSpPr/>
          <p:nvPr/>
        </p:nvSpPr>
        <p:spPr>
          <a:xfrm>
            <a:off x="2148840" y="502920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148840" y="5376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749040" y="49834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502920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49040" y="5376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silent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49240" y="49834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0B1826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502920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49240" y="5376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clicks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9440" y="49834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502920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949440" y="5376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49640" y="49834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/>
        </p:spPr>
      </p:sp>
      <p:sp>
        <p:nvSpPr>
          <p:cNvPr id="40" name="Text 38"/>
          <p:cNvSpPr/>
          <p:nvPr/>
        </p:nvSpPr>
        <p:spPr>
          <a:xfrm>
            <a:off x="8549640" y="502920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549640" y="5376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itself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0149840" y="4983480"/>
            <a:ext cx="1481328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/>
        </p:spPr>
      </p:sp>
      <p:sp>
        <p:nvSpPr>
          <p:cNvPr id="43" name="Text 41"/>
          <p:cNvSpPr/>
          <p:nvPr/>
        </p:nvSpPr>
        <p:spPr>
          <a:xfrm>
            <a:off x="10149840" y="502920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149840" y="537667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reversible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3E8FD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85832" y="5669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8A9BB0"/>
          </a:solidFill>
          <a:ln/>
        </p:spPr>
      </p:sp>
      <p:sp>
        <p:nvSpPr>
          <p:cNvPr id="6" name="Text 4"/>
          <p:cNvSpPr/>
          <p:nvPr/>
        </p:nvSpPr>
        <p:spPr>
          <a:xfrm>
            <a:off x="10085832" y="5486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visit writes itself — and never leaves the room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2139696"/>
            <a:ext cx="109728" cy="109728"/>
          </a:xfrm>
          <a:prstGeom prst="ellipse">
            <a:avLst/>
          </a:prstGeom>
          <a:solidFill>
            <a:srgbClr val="3E8FD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encounter on-device.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speech-to-text runs on the clinic’s own laptop — the audio file never touches a server, so there is no third party and no BAA to sign.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26664"/>
            <a:ext cx="109728" cy="109728"/>
          </a:xfrm>
          <a:prstGeom prst="ellipse">
            <a:avLst/>
          </a:prstGeom>
          <a:solidFill>
            <a:srgbClr val="3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44368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drafts the note.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 is structured into a SOAP-style draft — subjective, objective, assessment, plan — ready for the clinician to edit and sign.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913632"/>
            <a:ext cx="109728" cy="109728"/>
          </a:xfrm>
          <a:prstGeom prst="ellipse">
            <a:avLst/>
          </a:prstGeom>
          <a:solidFill>
            <a:srgbClr val="3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83133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clinician stays the author.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enters the chart without review and an explicit click. The AI drafts; the doctor decides.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572000"/>
            <a:ext cx="109728" cy="109728"/>
          </a:xfrm>
          <a:prstGeom prst="ellipse">
            <a:avLst/>
          </a:prstGeom>
          <a:solidFill>
            <a:srgbClr val="3E8FD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89704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market — priced for the big systems.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put $300M+ into cloud ambient scribes in 2024 alone: Abridge ($150M at an $850M valuation), Suki ($70M), Ambience, Nabla — all sold to large health systems. Obscura brings the capability to everyone else, free. (Business Insider, Oct 2024)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86600" y="2057400"/>
            <a:ext cx="4553712" cy="3291840"/>
          </a:xfrm>
          <a:prstGeom prst="roundRect">
            <a:avLst>
              <a:gd name="adj" fmla="val 2778"/>
            </a:avLst>
          </a:prstGeom>
          <a:solidFill>
            <a:srgbClr val="0B18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ON-DEVICE WINS HERE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60920" y="2697480"/>
            <a:ext cx="40690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audio is the most sensitive PHI a clinic creates.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Cloud scribe: audio → vendor server → BAA, subprocessors, retention policies to audit.
</a:t>
            </a:r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Obscura: audio → this laptop → note. The privacy review is one sentence long.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1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9612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in design — the newest prong of the four. REDACT, SECURE and ORGANIZE are working today.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D955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D9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85832" y="5669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B48C"/>
          </a:solidFill>
          <a:ln/>
        </p:spPr>
      </p:sp>
      <p:sp>
        <p:nvSpPr>
          <p:cNvPr id="6" name="Text 4"/>
          <p:cNvSpPr/>
          <p:nvPr/>
        </p:nvSpPr>
        <p:spPr>
          <a:xfrm>
            <a:off x="10085832" y="5486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the record, not the patient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2139696"/>
            <a:ext cx="109728" cy="109728"/>
          </a:xfrm>
          <a:prstGeom prst="ellipse">
            <a:avLst/>
          </a:prstGeom>
          <a:solidFill>
            <a:srgbClr val="D9555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HIPAA Safe Harbor standard.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mapped to all 18 identifier categories of 45 CFR 164.514(b)(2)(i) — names, MRNs, member IDs, dates, geography and the rest — with a live coverage panel per document.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163824"/>
            <a:ext cx="109728" cy="109728"/>
          </a:xfrm>
          <a:prstGeom prst="ellipse">
            <a:avLst/>
          </a:prstGeom>
          <a:solidFill>
            <a:srgbClr val="D9555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81528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detection, on purpose.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Pure-LLM PII detection averages ~0.54 F1. Obscura runs deterministic rules (SSN, Luhn, MRN, phone) for perfect precision, and Gemma 4 for names, addresses and context — grounded to exact pixels by OCR.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187952"/>
            <a:ext cx="109728" cy="109728"/>
          </a:xfrm>
          <a:prstGeom prst="ellipse">
            <a:avLst/>
          </a:prstGeom>
          <a:solidFill>
            <a:srgbClr val="D9555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0565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Destroys, never covers.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are rasterized, boxes burned into pixels, metadata stripped — an image-only PDF with no text layer to copy out.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86600" y="2057400"/>
            <a:ext cx="4553712" cy="3291840"/>
          </a:xfrm>
          <a:prstGeom prst="roundRect">
            <a:avLst>
              <a:gd name="adj" fmla="val 2778"/>
            </a:avLst>
          </a:prstGeom>
          <a:solidFill>
            <a:srgbClr val="0B1826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CHECKS ITS OWN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60920" y="2697480"/>
            <a:ext cx="40690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4-part verification battery on every export: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Select-all test — zero selectable characters
②  Text-search — no redacted string findable
③  Re-OCR — nothing readable survives in pixels
④  Metadata audit — document dictionary empty
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compliance report, per document.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59612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audit is technical QA, not legal advice — a human reviewer still signs off, exactly as Safe Harbor requires.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85832" y="5669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B48C"/>
          </a:solidFill>
          <a:ln/>
        </p:spPr>
      </p:sp>
      <p:sp>
        <p:nvSpPr>
          <p:cNvPr id="6" name="Text 4"/>
          <p:cNvSpPr/>
          <p:nvPr/>
        </p:nvSpPr>
        <p:spPr>
          <a:xfrm>
            <a:off x="10085832" y="5486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$0 IT department for the front-desk laptop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2139696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what an auditor would.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scan for plaintext passwords and keys on disk, weak OS configuration, and risky open ports — the everyday exposures behind real clinic breaches.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26664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4436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CIS hardening checks.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map to CIS Level 1 benchmark checks, rolled into a single plain-English Safety Score anyone at the front desk can read.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82219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39896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Explains, never executes.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turns each finding into one sentence of “what this means and why it matters.” Fixes come from a hardcoded registry — the model never runs anything.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709160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26864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too.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scan flags what slows aging hardware — startup bloat, low disk, pending updates — so the one clinic laptop stays usable.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86600" y="2057400"/>
            <a:ext cx="4553712" cy="3291840"/>
          </a:xfrm>
          <a:prstGeom prst="roundRect">
            <a:avLst>
              <a:gd name="adj" fmla="val 2778"/>
            </a:avLst>
          </a:prstGeom>
          <a:solidFill>
            <a:srgbClr val="0B18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SCAN RETURNS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60920" y="2697480"/>
            <a:ext cx="40690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Score: 62 → 91 after fixes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key in plaintext on Desktop → “Send to Redactor”
•  Disk encryption off on PHI volume
•  Remote-desktop port open to network
•  14 startup apps slowing boot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 described in plain English. You click; it never acts alone.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1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9612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by design: it scans only your own machine, read-only, and describes fixes — it does not attack, probe networks, or auto-remediate.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12064" cy="512064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0085832" y="56692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2FB48C"/>
          </a:solidFill>
          <a:ln/>
        </p:spPr>
      </p:sp>
      <p:sp>
        <p:nvSpPr>
          <p:cNvPr id="6" name="Text 4"/>
          <p:cNvSpPr/>
          <p:nvPr/>
        </p:nvSpPr>
        <p:spPr>
          <a:xfrm>
            <a:off x="10085832" y="5486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789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that name themselves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66928" y="2139696"/>
            <a:ext cx="109728" cy="109728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57400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reads page one.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file it reads a cheap signature — first page of a PDF, first rows of a sheet, or the image itself — and returns doc-type, entity, date and a descriptor.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026664"/>
            <a:ext cx="109728" cy="109728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44368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enforces the template.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supplies understanding only; a deterministic naming template builds the final name, so results are consistent every time.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822192"/>
            <a:ext cx="109728" cy="109728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39896"/>
            <a:ext cx="6035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Crash-safe and reversible.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run through a journaled, atomic operation — never a delete — and one-click Undo replays the whole reorganization in reverse.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617720"/>
            <a:ext cx="109728" cy="109728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53542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before anything moves.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folder proposal is shown first; nothing happens until the human says yes.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86600" y="2057400"/>
            <a:ext cx="4553712" cy="3291840"/>
          </a:xfrm>
          <a:prstGeom prst="roundRect">
            <a:avLst>
              <a:gd name="adj" fmla="val 2778"/>
            </a:avLst>
          </a:prstGeom>
          <a:solidFill>
            <a:srgbClr val="0B1826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240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→  AFTER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60920" y="2697480"/>
            <a:ext cx="406908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6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scan0007.pdf
New Text Document.txt
copy of copy final.txt
IMG_20260312 final FINAL v2.pdf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2026-03-12_Lab-Result_Alvarez.pdf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2026-04-02_Referral_Nguyen.pdf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2026-05-19_Intake-Form_Okafor.pdf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2026-06-30_Insurance-EOB_Reyes.pdf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1F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59612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findable record is a safer record — files you can locate are files you can protect, redact, and produce on request.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Tuesday at a two-provider clinic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600200"/>
            <a:ext cx="32004" cy="379476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1618488"/>
            <a:ext cx="256032" cy="256032"/>
          </a:xfrm>
          <a:prstGeom prst="ellipse">
            <a:avLst/>
          </a:prstGeom>
          <a:solidFill>
            <a:srgbClr val="3E8FD0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56362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9:05 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783080" y="1508760"/>
            <a:ext cx="9281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563624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visit. The note drafts itself while the door is still closed; the doctor edits and signs.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261872" y="2606040"/>
            <a:ext cx="256032" cy="256032"/>
          </a:xfrm>
          <a:prstGeom prst="ellipse">
            <a:avLst/>
          </a:prstGeom>
          <a:solidFill>
            <a:srgbClr val="D9555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55117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11:30 AM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83080" y="2496312"/>
            <a:ext cx="9281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2551176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referral goes out — the record travels, the patient's identity stays home. Coverage panel: green.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61872" y="3593592"/>
            <a:ext cx="256032" cy="256032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53872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12:40 PM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83080" y="3483864"/>
            <a:ext cx="9281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3538728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Lunchtime scan finds one plaintext password on the front-desk laptop. Fixed in two clicks.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261872" y="4581144"/>
            <a:ext cx="256032" cy="256032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526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4:55 PM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83080" y="4471416"/>
            <a:ext cx="92811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452628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day's scans and faxes are named, filed, and fully undo-able before anyone goes home.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EAF1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96128"/>
            <a:ext cx="10607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and redacted records export as standard PDFs today; EHR integration is the roadmap's next mile — the moat the cloud vendors built closed, we build open.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else is in the cloud — and priced for the big systems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017520" y="1554480"/>
            <a:ext cx="61722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4476" y="1691640"/>
            <a:ext cx="18288" cy="370332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3154680" y="3534156"/>
            <a:ext cx="5897880" cy="18288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6" name="Text 4"/>
          <p:cNvSpPr/>
          <p:nvPr/>
        </p:nvSpPr>
        <p:spPr>
          <a:xfrm>
            <a:off x="3218688" y="31318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06640" y="313182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170432"/>
            <a:ext cx="617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5605272"/>
            <a:ext cx="6172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BIG HEALTH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4069080"/>
            <a:ext cx="219456" cy="219456"/>
          </a:xfrm>
          <a:prstGeom prst="ellipse">
            <a:avLst/>
          </a:prstGeom>
          <a:solidFill>
            <a:srgbClr val="8A9BB0"/>
          </a:solidFill>
          <a:ln/>
        </p:spPr>
      </p:sp>
      <p:sp>
        <p:nvSpPr>
          <p:cNvPr id="11" name="Text 9"/>
          <p:cNvSpPr/>
          <p:nvPr/>
        </p:nvSpPr>
        <p:spPr>
          <a:xfrm>
            <a:off x="3081528" y="43068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52928" y="45628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$850M valuation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83480" y="4572000"/>
            <a:ext cx="219456" cy="219456"/>
          </a:xfrm>
          <a:prstGeom prst="ellipse">
            <a:avLst/>
          </a:prstGeom>
          <a:solidFill>
            <a:srgbClr val="8A9BB0"/>
          </a:solidFill>
          <a:ln/>
        </p:spPr>
      </p:sp>
      <p:sp>
        <p:nvSpPr>
          <p:cNvPr id="14" name="Text 12"/>
          <p:cNvSpPr/>
          <p:nvPr/>
        </p:nvSpPr>
        <p:spPr>
          <a:xfrm>
            <a:off x="4270248" y="48097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41648" y="5065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$165M raised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03320" y="4800600"/>
            <a:ext cx="219456" cy="219456"/>
          </a:xfrm>
          <a:prstGeom prst="ellipse">
            <a:avLst/>
          </a:prstGeom>
          <a:solidFill>
            <a:srgbClr val="8A9BB0"/>
          </a:solidFill>
          <a:ln/>
        </p:spPr>
      </p:sp>
      <p:sp>
        <p:nvSpPr>
          <p:cNvPr id="17" name="Text 15"/>
          <p:cNvSpPr/>
          <p:nvPr/>
        </p:nvSpPr>
        <p:spPr>
          <a:xfrm>
            <a:off x="2990088" y="50383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Ambience · DAX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2240280"/>
            <a:ext cx="219456" cy="219456"/>
          </a:xfrm>
          <a:prstGeom prst="ellipse">
            <a:avLst/>
          </a:prstGeom>
          <a:solidFill>
            <a:srgbClr val="8A9BB0"/>
          </a:solidFill>
          <a:ln/>
        </p:spPr>
      </p:sp>
      <p:sp>
        <p:nvSpPr>
          <p:cNvPr id="19" name="Text 17"/>
          <p:cNvSpPr/>
          <p:nvPr/>
        </p:nvSpPr>
        <p:spPr>
          <a:xfrm>
            <a:off x="3218688" y="24780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2011680"/>
            <a:ext cx="219456" cy="219456"/>
          </a:xfrm>
          <a:prstGeom prst="ellipse">
            <a:avLst/>
          </a:prstGeom>
          <a:solidFill>
            <a:srgbClr val="8A9BB0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2249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Nabla · DeepScribe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2121408"/>
            <a:ext cx="384048" cy="384048"/>
          </a:xfrm>
          <a:prstGeom prst="ellipse">
            <a:avLst/>
          </a:prstGeom>
          <a:solidFill>
            <a:srgbClr val="2FB48C"/>
          </a:solidFill>
          <a:ln/>
        </p:spPr>
      </p:sp>
      <p:sp>
        <p:nvSpPr>
          <p:cNvPr id="23" name="Text 21"/>
          <p:cNvSpPr/>
          <p:nvPr/>
        </p:nvSpPr>
        <p:spPr>
          <a:xfrm>
            <a:off x="7004304" y="25237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75704" y="2779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open-source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555480" y="1554480"/>
            <a:ext cx="2084832" cy="3977640"/>
          </a:xfrm>
          <a:prstGeom prst="roundRect">
            <a:avLst>
              <a:gd name="adj" fmla="val 3509"/>
            </a:avLst>
          </a:prstGeom>
          <a:solidFill>
            <a:srgbClr val="0B1826"/>
          </a:solidFill>
          <a:ln/>
        </p:spPr>
      </p:sp>
      <p:sp>
        <p:nvSpPr>
          <p:cNvPr id="26" name="Text 24"/>
          <p:cNvSpPr/>
          <p:nvPr/>
        </p:nvSpPr>
        <p:spPr>
          <a:xfrm>
            <a:off x="9692640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</a:t>
            </a:r>
            <a:endParaRPr lang="en-US" sz="1300" dirty="0"/>
          </a:p>
          <a:p>
            <a:pPr indent="0" marL="0">
              <a:buNone/>
            </a:pPr>
            <a:r>
              <a:rPr lang="en-US" sz="1300" b="1" spc="1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0" y="2560320"/>
            <a:ext cx="18288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funded player sells cloud AI to institutions.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+ built-for-everyone is empty — because there was no business model for it.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is the business model.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per Business Insider funding coverage, Oct 2024; company placements approximate.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small clinic pays for this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7635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109728" cy="868680"/>
          </a:xfrm>
          <a:prstGeom prst="rect">
            <a:avLst/>
          </a:prstGeom>
          <a:solidFill>
            <a:srgbClr val="3E8FD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990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scribe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2821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$299–$1,512  </a:t>
            </a:r>
            <a:pPr indent="0" marL="0">
              <a:buNone/>
            </a:pPr>
            <a:r>
              <a:rPr lang="en-US" sz="1100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clinician / month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11880" y="1380744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Suki $299–399 · DAX Copilot list $1,512 (typ. $369–830 + $5k–50k setup) · budget tier: Freed $79–119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7635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13432"/>
            <a:ext cx="109728" cy="868680"/>
          </a:xfrm>
          <a:prstGeom prst="rect">
            <a:avLst/>
          </a:prstGeom>
          <a:solidFill>
            <a:srgbClr val="D9555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865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 software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1576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$279–$379  </a:t>
            </a:r>
            <a:pPr indent="0" marL="0">
              <a:buNone/>
            </a:pPr>
            <a:r>
              <a:rPr lang="en-US" sz="1100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/ month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368296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CaseGuard Doc/Ultimate suites · budget tier: Redactable from $278/yr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00984"/>
            <a:ext cx="7635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00984"/>
            <a:ext cx="109728" cy="86868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37413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IT + HIPAA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$100–$250  </a:t>
            </a:r>
            <a:pPr indent="0" marL="0">
              <a:buNone/>
            </a:pPr>
            <a:r>
              <a:rPr lang="en-US" sz="1100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/ month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335584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small-practice HIPAA-ready managed IT; HIPAA compliance support adds $15–30/user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288536"/>
            <a:ext cx="7635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288536"/>
            <a:ext cx="109728" cy="868680"/>
          </a:xfrm>
          <a:prstGeom prst="rect">
            <a:avLst/>
          </a:prstGeom>
          <a:solidFill>
            <a:srgbClr val="2FB48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3616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records admin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6908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  </a:t>
            </a:r>
            <a:pPr indent="0" marL="0">
              <a:buNone/>
            </a:pPr>
            <a:r>
              <a:rPr lang="en-US" sz="1100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day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11880" y="434340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naming, filing, and hunting for documents — unpriced but paid in 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12480" y="1325880"/>
            <a:ext cx="3227832" cy="3831336"/>
          </a:xfrm>
          <a:prstGeom prst="roundRect">
            <a:avLst>
              <a:gd name="adj" fmla="val 2833"/>
            </a:avLst>
          </a:prstGeom>
          <a:solidFill>
            <a:srgbClr val="0B1826"/>
          </a:solidFill>
          <a:ln/>
        </p:spPr>
      </p:sp>
      <p:sp>
        <p:nvSpPr>
          <p:cNvPr id="24" name="Text 22"/>
          <p:cNvSpPr/>
          <p:nvPr/>
        </p:nvSpPr>
        <p:spPr>
          <a:xfrm>
            <a:off x="8641080" y="1600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OBSCURA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41080" y="20574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F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8641080" y="3200400"/>
            <a:ext cx="27889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clinician · per month · forever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Apache-2.0, on hardware the clinic already owns. A 2-provider clinic replaces $15,000+ a year of the stack at left.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EAF1F8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4406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says the pain is real:  </a:t>
            </a:r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clinical documentation is a $1.2–2.8B market today, forecast to reach ~$15B by 2034–35 (19–29% CAGR across analyst houses). All of it cloud. None of it priced for small practices.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19963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vendor list/published reseller pages + 2026 pricing guides (Freed, Suki, Microsoft/Nuance, CaseGuard, Redactable, MSP surveys); market size: Dataintelo, Astute Analytica, SNS Insider, Grand View 2025–26 reports. Ranges are list prices, verify per quote.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you can watch. Safety by architecture.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6276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connections: 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" y="228600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egress panel lists every network connection the app holds. Run it with Wi-Fi off — everything still works. That’s the proof, not a promise.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1144" y="16276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Human-in-the-loop, everywhere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81144" y="228600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redaction, no file move, no machine change without an explicit click. The AI proposes; a person disposes.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1584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57616" y="162763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is a feature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57616" y="2286000"/>
            <a:ext cx="30175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re-opens its own output and attacks it. ORGANIZE journals every move for Undo. The tool assumes it made a mistake and checks.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0B182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PRONGS FEED EACH OTHER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663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142438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754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50749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 plaintext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5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on disk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82112" y="4892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49040" y="4663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142438"/>
          </a:solidFill>
          <a:ln w="19050">
            <a:solidFill>
              <a:srgbClr val="D955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4754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50749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it —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5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25312" y="4892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492240" y="4663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142438"/>
          </a:solidFill>
          <a:ln w="19050">
            <a:solidFill>
              <a:srgbClr val="2FB4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754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50749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the clean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5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668512" y="4892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235440" y="466344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142438"/>
          </a:solidFill>
          <a:ln w="19050">
            <a:solidFill>
              <a:srgbClr val="3E8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475488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35440" y="507492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notes into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5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loop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Built, demoed, and self-verified — in a one-day sprint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18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“Build &amp; Hack with Gemma 4.0” — Newport Beach, July 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606040" y="1984248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prongs working end-to-end today — REDACT, SECURE, ORGANIZE — on synthetic demo data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201168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0" y="1984248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characters after redaction: select-all, text-search, re-OCR and metadata checks all pass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16/18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606040" y="3950208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Safe Harbor identifier categories flagged on a synthetic patient record, shown in the coverage panel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74904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977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GB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29600" y="3950208"/>
            <a:ext cx="3200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laptop GPU is enough — hardware probe auto-selects the right Gemma 4 variant per machine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code, open license:  </a:t>
            </a:r>
            <a:pPr indent="0" marL="0">
              <a:buNone/>
            </a:pPr>
            <a:r>
              <a:rPr lang="en-US" sz="1350" dirty="0">
                <a:solidFill>
                  <a:srgbClr val="3A4E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github.com/meetkpatel/Obscura  ·  Apache-2.0, mirroring Gemma 4’s own license  ·  all demo data synthetic — no real PHI, ever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Obscura  ·  open-source (Apache-2.0)  ·  built on Gemma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C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B48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 AI shouldn’t be a luxury good.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41832" y="18745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practices serving the most vulnerable patients deserve the same AI leverage as the biggest health systems — without the subscription, the BAA, or the data leaving the building. Open-source models finally make that possible. Obscura is the wrapper that makes it usable.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41832" y="32918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42438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34564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3840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TRANSCRIBE prong — on-device visit notes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53712" y="32918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42438"/>
          </a:solidFill>
          <a:ln/>
        </p:spPr>
      </p:sp>
      <p:sp>
        <p:nvSpPr>
          <p:cNvPr id="9" name="Text 7"/>
          <p:cNvSpPr/>
          <p:nvPr/>
        </p:nvSpPr>
        <p:spPr>
          <a:xfrm>
            <a:off x="4782312" y="34564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82312" y="3840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installer + pilots with community clinics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5592" y="329184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142438"/>
          </a:solidFill>
          <a:ln/>
        </p:spPr>
      </p:sp>
      <p:sp>
        <p:nvSpPr>
          <p:cNvPr id="12" name="Text 10"/>
          <p:cNvSpPr/>
          <p:nvPr/>
        </p:nvSpPr>
        <p:spPr>
          <a:xfrm>
            <a:off x="8394192" y="34564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B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94192" y="384048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 prongs for legal aid, social work, schools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41832" y="484632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buNone/>
            </a:pPr>
            <a:r>
              <a:rPr lang="en-US" sz="15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clinics to shape TRANSCRIBE  ·  open-source contributors  ·  EHR-integration partners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41832" y="5394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FB4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fast as AI. As private as a locked filing cabinet.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41832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github.com/meetkpatel/Obscura   ·   Apache-2.0   ·   built on Gemma 4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2026-07-18T22:47:26Z</dcterms:created>
  <dcterms:modified xsi:type="dcterms:W3CDTF">2026-07-18T22:47:26Z</dcterms:modified>
</cp:coreProperties>
</file>