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redact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777240"/>
            <a:ext cx="65836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7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Obscura</a:t>
            </a:r>
            <a:endParaRPr lang="en-US" sz="6200" dirty="0"/>
          </a:p>
          <a:p>
            <a:pPr indent="0" marL="0">
              <a:lnSpc>
                <a:spcPts val="7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Overview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 on the clinic’s own laptop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19556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OBSCURA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4206240"/>
            <a:ext cx="6400800" cy="10973"/>
          </a:xfrm>
          <a:prstGeom prst="rect">
            <a:avLst/>
          </a:prstGeom>
          <a:solidFill>
            <a:srgbClr val="55555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3159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/  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CLINICS · SMALL &amp; RURAL PRACTICES · FQHCs — AND EVERY HEALTH SYSTEM ALREADY PAYING FOR CLOUD TRANSCRIPTION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486460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PROOF /  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EMORY · YALE NEW HAVEN · UNC HEALTH · CHRISTUS · COREWELL · U. KANSAS HEALTH SYSTEM +8 MORE ALREADY BUY CLOUD SCRIBES (ABRIDGE PUBLIC ROSTER) — SUKI COUNTS 300 SYSTEM &amp; CLINIC CLIENTS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5806440"/>
            <a:ext cx="2377440" cy="10973"/>
          </a:xfrm>
          <a:prstGeom prst="rect">
            <a:avLst/>
          </a:prstGeom>
          <a:solidFill>
            <a:srgbClr val="55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5806440"/>
            <a:ext cx="2377440" cy="10973"/>
          </a:xfrm>
          <a:prstGeom prst="rect">
            <a:avLst/>
          </a:prstGeom>
          <a:solidFill>
            <a:srgbClr val="55555A"/>
          </a:solidFill>
          <a:ln/>
        </p:spPr>
      </p:sp>
      <p:sp>
        <p:nvSpPr>
          <p:cNvPr id="12" name="Shape 9"/>
          <p:cNvSpPr/>
          <p:nvPr/>
        </p:nvSpPr>
        <p:spPr>
          <a:xfrm>
            <a:off x="5623560" y="5806440"/>
            <a:ext cx="1508760" cy="10973"/>
          </a:xfrm>
          <a:prstGeom prst="rect">
            <a:avLst/>
          </a:prstGeom>
          <a:solidFill>
            <a:srgbClr val="55555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897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OBSCURA / SOFTWARE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TOOLS. ONE LAPTOP.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CLOUD.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063240" y="5897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 /  APACHE-2.0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/  GEMMA 4, LOCAL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PATH /  STAYS HOME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23560" y="5897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/  JULY 2026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GITHUB.COM/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MEETKPATEL/OBSCURA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builds private AI for </a:t>
            </a:r>
            <a:pPr indent="0" marL="0">
              <a:buNone/>
            </a:pPr>
            <a:r>
              <a:rPr lang="en-US" sz="28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clinics America runs on</a:t>
            </a:r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786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DESK TAX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94560" y="2578608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of desk + EHR work per 1 hour of direct patient care.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Sinsky et al., Annals of Internal Medicine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47288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11296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EXODUS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94560" y="3511296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 physicians intend to leave medicine within two years.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Clinic Proceedings survey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379976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44398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EXPOSURE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94560" y="4443984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$9.8M average healthcare breach — costliest industry, 14 years running.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Cost of a Data Breach, 2024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312664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3766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PEOPLE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94560" y="5376672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31M+ patients depend on community health centers on thin margins.  </a:t>
            </a:r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HRSA Health Center Program, 2023</a:t>
            </a:r>
            <a:endParaRPr lang="en-US" sz="1150" dirty="0"/>
          </a:p>
        </p:txBody>
      </p:sp>
      <p:pic>
        <p:nvPicPr>
          <p:cNvPr id="22" name="Image 0" descr="img_human_crop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914400"/>
            <a:ext cx="4892040" cy="53949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market is already paying — </a:t>
            </a:r>
            <a:pPr indent="0" marL="0">
              <a:buNone/>
            </a:pPr>
            <a:r>
              <a:rPr lang="en-US" sz="2600" u="sng" dirty="0">
                <a:solidFill>
                  <a:srgbClr val="1414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just not for everyone</a:t>
            </a:r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59893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3911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TODAY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203911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$1.2–2.8B AI clinical documentation market, forecast ~$15B by 2034–35 (19–29% CAGR across analyst houses).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990088"/>
            <a:ext cx="59893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632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INCUMBENTS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30632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Abridge $5.3B valuation · Suki $165M raised, 300 system &amp; clinic clients · Nuance DAX list price $1,512/clinician/mo.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59893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8736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CEILING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408736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 cloud. All of it priced for enterprise health systems with IT departments and BAA counsel.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038344"/>
            <a:ext cx="59893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111496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OPENING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5111496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U.S. physicians work in practices of 10 or fewer (AMA benchmark) — the segment no cloud vendor prices for. That segment is ours, at $0.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03720" y="19659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ALREADY BUYS CLOUD TRANSCRIPTION — ABRIDGE'S PUBLIC CUSTOMER ROSTER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Emory Healthcare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2916936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5" name="Text 23"/>
          <p:cNvSpPr/>
          <p:nvPr/>
        </p:nvSpPr>
        <p:spPr>
          <a:xfrm>
            <a:off x="9354312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Yale New Haven Health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54312" y="2916936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29900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UNC Health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3392424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312" y="29900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CHRISTUS Health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354312" y="3392424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4655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Corewell Health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03720" y="3867912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3" name="Text 31"/>
          <p:cNvSpPr/>
          <p:nvPr/>
        </p:nvSpPr>
        <p:spPr>
          <a:xfrm>
            <a:off x="9354312" y="34655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U. Kansas Health System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54312" y="3867912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3941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Rochester Regional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03720" y="4343400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7" name="Text 35"/>
          <p:cNvSpPr/>
          <p:nvPr/>
        </p:nvSpPr>
        <p:spPr>
          <a:xfrm>
            <a:off x="9354312" y="3941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Cambridge Health Alliance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54312" y="4343400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4416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Akron Children’s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03720" y="4818888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1" name="Text 39"/>
          <p:cNvSpPr/>
          <p:nvPr/>
        </p:nvSpPr>
        <p:spPr>
          <a:xfrm>
            <a:off x="9354312" y="4416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Lee Health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354312" y="4818888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3" name="Text 41"/>
          <p:cNvSpPr/>
          <p:nvPr/>
        </p:nvSpPr>
        <p:spPr>
          <a:xfrm>
            <a:off x="6903720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Riverside Health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03720" y="5294376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5" name="Text 43"/>
          <p:cNvSpPr/>
          <p:nvPr/>
        </p:nvSpPr>
        <p:spPr>
          <a:xfrm>
            <a:off x="9354312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Reid Health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354312" y="5294376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5367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Tanner Health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03720" y="5769864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9" name="Text 47"/>
          <p:cNvSpPr/>
          <p:nvPr/>
        </p:nvSpPr>
        <p:spPr>
          <a:xfrm>
            <a:off x="9354312" y="5367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U. Vermont Health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354312" y="5769864"/>
            <a:ext cx="228600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51" name="Text 49"/>
          <p:cNvSpPr/>
          <p:nvPr/>
        </p:nvSpPr>
        <p:spPr>
          <a:xfrm>
            <a:off x="6903720" y="59436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name above signed with a cloud vendor. Every clinic below their size threshold could not — until the tooling became free and local.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5806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visit ends.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starts.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 happens in the room. The burden follows clinicians out of it.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589788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3192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DESK TAX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33192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of desk + EHR work for every 1 hour of direct patient care.  </a:t>
            </a:r>
            <a:pPr indent="0" marL="0">
              <a:buNone/>
            </a:pPr>
            <a:r>
              <a:rPr lang="en-US" sz="83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Sinsky et al., Annals of Internal Medicine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4142232"/>
            <a:ext cx="589788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15384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EXODUS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42153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 physicians intend to leave medicine within two years.  </a:t>
            </a:r>
            <a:pPr indent="0" marL="0">
              <a:buNone/>
            </a:pPr>
            <a:r>
              <a:rPr lang="en-US" sz="83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Clinic Proceedings physician survey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5038344"/>
            <a:ext cx="589788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5111496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PEOPLE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511149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31M+ patients depend on community health centers running on thin margins.  </a:t>
            </a:r>
            <a:pPr indent="0" marL="0">
              <a:buNone/>
            </a:pPr>
            <a:r>
              <a:rPr lang="en-US" sz="83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HRSA Health Center Program, 2023</a:t>
            </a:r>
            <a:endParaRPr lang="en-US" sz="1080" dirty="0"/>
          </a:p>
        </p:txBody>
      </p:sp>
      <p:pic>
        <p:nvPicPr>
          <p:cNvPr id="20" name="Image 0" descr="img_burnout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914400"/>
            <a:ext cx="4754880" cy="53949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903720" y="5148072"/>
            <a:ext cx="4754880" cy="1161288"/>
          </a:xfrm>
          <a:prstGeom prst="rect">
            <a:avLst/>
          </a:prstGeom>
          <a:solidFill>
            <a:srgbClr val="101014">
              <a:alpha val="72000"/>
            </a:srgbClr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9480" y="53949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 IS NOT A LACK OF AI.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IS A LACK OF ACCESS.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needed for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AI reach the exam room </a:t>
            </a:r>
            <a:pPr indent="0" marL="0">
              <a:buNone/>
            </a:pPr>
            <a:r>
              <a:rPr lang="en-US" sz="26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</a:t>
            </a:r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11183112" cy="4160520"/>
          </a:xfrm>
          <a:prstGeom prst="roundRect">
            <a:avLst>
              <a:gd name="adj" fmla="val 2637"/>
            </a:avLst>
          </a:prstGeom>
          <a:solidFill>
            <a:srgbClr val="10101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audio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documents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file system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aging laptop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52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052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notes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Shareable, safe records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protected machine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files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532120" y="3703320"/>
            <a:ext cx="1097280" cy="822960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703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through the cloud.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0" y="8686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AI tools won’t sign a HIPAA Business Associate Agreement. For a patient record, the upload is the disclosure.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11183112" cy="4160520"/>
          </a:xfrm>
          <a:prstGeom prst="roundRect">
            <a:avLst>
              <a:gd name="adj" fmla="val 2637"/>
            </a:avLst>
          </a:prstGeom>
          <a:solidFill>
            <a:srgbClr val="101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audio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documents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file system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aging laptop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52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52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notes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Shareable, safe records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protected machine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files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69080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scribes · chatbots · SaaS redaction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338328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474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$299–$1,512 / clinician / mo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 + subprocessors to audit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leaves the building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79008" y="4892040"/>
            <a:ext cx="603504" cy="603504"/>
          </a:xfrm>
          <a:prstGeom prst="ellipse">
            <a:avLst/>
          </a:prstGeom>
          <a:solidFill>
            <a:srgbClr val="E05A55"/>
          </a:solidFill>
          <a:ln/>
        </p:spPr>
      </p:sp>
      <p:sp>
        <p:nvSpPr>
          <p:cNvPr id="22" name="Text 20"/>
          <p:cNvSpPr/>
          <p:nvPr/>
        </p:nvSpPr>
        <p:spPr>
          <a:xfrm>
            <a:off x="5779008" y="487375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Clinical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one engine that </a:t>
            </a:r>
            <a:pPr indent="0" marL="0">
              <a:buNone/>
            </a:pPr>
            <a:r>
              <a:rPr lang="en-US" sz="26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leaves the room</a:t>
            </a:r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0" y="8686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— open weights, Apache-2.0 — runs frontier reasoning on the laptop the clinic already owns.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11183112" cy="4160520"/>
          </a:xfrm>
          <a:prstGeom prst="roundRect">
            <a:avLst>
              <a:gd name="adj" fmla="val 2637"/>
            </a:avLst>
          </a:prstGeom>
          <a:solidFill>
            <a:srgbClr val="101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audio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documents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file system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aging laptop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52560" y="2377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clinician’s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52560" y="329184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notes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Shareable, safe records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protected machine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files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977640" y="2697480"/>
            <a:ext cx="4206240" cy="3063240"/>
          </a:xfrm>
          <a:prstGeom prst="roundRect">
            <a:avLst>
              <a:gd name="adj" fmla="val 2985"/>
            </a:avLst>
          </a:prstGeom>
          <a:solidFill>
            <a:srgbClr val="17171C"/>
          </a:solidFill>
          <a:ln w="19050">
            <a:solidFill>
              <a:srgbClr val="2FC49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977640" y="28529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OBSCURA ENGINE  ·  ON-DEVICE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329184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10101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4340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329184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0E2A22"/>
          </a:solidFill>
          <a:ln w="19050">
            <a:solidFill>
              <a:srgbClr val="2FC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7220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· reasons · classifies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97680" y="4462272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10101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43400" y="49194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clicks — always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4462272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10101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49194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its own output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77640" y="57790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egress: 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surfaces.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Four Surfaces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3990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234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389120" y="12801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visit writes itself.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9120" y="16367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speech → SOAP draft → clinician signs · no BAA because no third party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78440" y="13990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DESIGN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167128"/>
            <a:ext cx="10972800" cy="10973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688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3042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389120" y="23500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record, not the patient.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9120" y="27066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18 HIPAA Safe Harbor identifier categories · destroys pixels, never covers text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7844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236976"/>
            <a:ext cx="10972800" cy="10973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387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37413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4389120" y="3419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$0 IT department.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89120" y="3776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Level 1 checks · plaintext-secret scan · Safety Score · read-only, never executes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78440" y="35387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4306824"/>
            <a:ext cx="10972800" cy="10973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60857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44398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4389120" y="44897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that name themselves.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8912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reads page one · template-enforced names · crash-safe journal · one-click Undo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78440" y="46085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5376672"/>
            <a:ext cx="10972800" cy="10973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surfaces feed each other: SECURE finds a plaintext key → REDACT destroys it → ORGANIZE files the result.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Four Surfaces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local </a:t>
            </a:r>
            <a:pPr indent="0" marL="0">
              <a:buNone/>
            </a:pPr>
            <a:r>
              <a:rPr lang="en-US" sz="2200" dirty="0">
                <a:solidFill>
                  <a:srgbClr val="2FC4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Gemma 4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model powers every surface — </a:t>
            </a:r>
            <a:pPr indent="0" marL="0">
              <a:buNone/>
            </a:pPr>
            <a:r>
              <a:rPr lang="en-US" sz="2200" dirty="0">
                <a:solidFill>
                  <a:srgbClr val="2FC4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before, during, and after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each patient touchpoint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11183112" cy="12802"/>
          </a:xfrm>
          <a:prstGeom prst="rect">
            <a:avLst/>
          </a:prstGeom>
          <a:solidFill>
            <a:srgbClr val="2A2A32"/>
          </a:solidFill>
          <a:ln/>
        </p:spPr>
      </p:sp>
      <p:sp>
        <p:nvSpPr>
          <p:cNvPr id="11" name="Shape 9"/>
          <p:cNvSpPr/>
          <p:nvPr/>
        </p:nvSpPr>
        <p:spPr>
          <a:xfrm>
            <a:off x="4837176" y="3246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E2A22"/>
          </a:solidFill>
          <a:ln w="25400">
            <a:solidFill>
              <a:srgbClr val="2FC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3401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spc="200" kern="0" dirty="0">
                <a:solidFill>
                  <a:srgbClr val="2FC4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GEMMA 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37176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vision · reasoning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Ollama gateway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286000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TRANSCRIBE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audio → structured SOAP draft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154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third party — no BAA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" y="4315968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4256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SECURE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47731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findings in plain English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5184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L1 checks · Safety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85632" y="2286000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68512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REDACT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68512" y="2743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meaning; OCR pins the pixels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68512" y="3154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Safe Harbor identifier types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85632" y="4315968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8512" y="44256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ORGANIZE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68512" y="47731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page one → doc-type · entity · date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68512" y="5184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enforces names · Undo journal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03320" y="3063240"/>
            <a:ext cx="1133856" cy="777240"/>
          </a:xfrm>
          <a:prstGeom prst="line">
            <a:avLst/>
          </a:prstGeom>
          <a:noFill/>
          <a:ln w="15875">
            <a:solidFill>
              <a:srgbClr val="3A5A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5074920"/>
            <a:ext cx="1133856" cy="-548640"/>
          </a:xfrm>
          <a:prstGeom prst="line">
            <a:avLst/>
          </a:prstGeom>
          <a:noFill/>
          <a:ln w="15875">
            <a:solidFill>
              <a:srgbClr val="3A5A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51776" y="3840480"/>
            <a:ext cx="1133856" cy="-777240"/>
          </a:xfrm>
          <a:prstGeom prst="line">
            <a:avLst/>
          </a:prstGeom>
          <a:noFill/>
          <a:ln w="15875">
            <a:solidFill>
              <a:srgbClr val="3A5A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51776" y="4160520"/>
            <a:ext cx="1133856" cy="914400"/>
          </a:xfrm>
          <a:prstGeom prst="line">
            <a:avLst/>
          </a:prstGeom>
          <a:noFill/>
          <a:ln w="15875">
            <a:solidFill>
              <a:srgbClr val="3A5A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5833872"/>
            <a:ext cx="7772400" cy="530352"/>
          </a:xfrm>
          <a:prstGeom prst="roundRect">
            <a:avLst>
              <a:gd name="adj" fmla="val 50000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58704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SPINE /  structured-JSON output · retry + repair loop · serialized GPU queue · hardware probe picks E4B or 12B · runs on an 8 GB laptop, Wi-Fi off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Four Surfaces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77824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conversation to </a:t>
            </a:r>
            <a:pPr indent="0" marL="0">
              <a:buNone/>
            </a:pPr>
            <a:r>
              <a:rPr lang="en-US" sz="2700" dirty="0">
                <a:solidFill>
                  <a:srgbClr val="2FC4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clinician control</a:t>
            </a:r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0934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focused MVP is one complete, transcript-grounded scribe workflow — not a disconnected feature list.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5568" y="2880360"/>
            <a:ext cx="9948672" cy="0"/>
          </a:xfrm>
          <a:prstGeom prst="line">
            <a:avLst/>
          </a:prstGeom>
          <a:noFill/>
          <a:ln w="19050">
            <a:solidFill>
              <a:srgbClr val="323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26609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2496312"/>
            <a:ext cx="768096" cy="768096"/>
          </a:xfrm>
          <a:prstGeom prst="ellipse">
            <a:avLst/>
          </a:prstGeom>
          <a:solidFill>
            <a:srgbClr val="17171C"/>
          </a:solidFill>
          <a:ln w="19050">
            <a:solidFill>
              <a:srgbClr val="2FC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482" y="2703332"/>
            <a:ext cx="128748" cy="209215"/>
          </a:xfrm>
          <a:prstGeom prst="roundRect">
            <a:avLst>
              <a:gd name="adj" fmla="val 28409"/>
            </a:avLst>
          </a:prstGeom>
          <a:solidFill>
            <a:srgbClr val="101014">
              <a:alpha val="0"/>
            </a:srgbClr>
          </a:solidFill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05108" y="2836103"/>
            <a:ext cx="0" cy="6035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262604" y="2836103"/>
            <a:ext cx="0" cy="6035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005108" y="2896453"/>
            <a:ext cx="257495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133856" y="2896453"/>
            <a:ext cx="0" cy="100584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45342" y="3009108"/>
            <a:ext cx="177028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365760" y="344728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Capture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10896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· dictate · pause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3922776" y="26609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06624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88336" y="2496312"/>
            <a:ext cx="768096" cy="768096"/>
          </a:xfrm>
          <a:prstGeom prst="ellipse">
            <a:avLst/>
          </a:prstGeom>
          <a:solidFill>
            <a:srgbClr val="17171C"/>
          </a:solidFill>
          <a:ln w="19050">
            <a:solidFill>
              <a:srgbClr val="2FC4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72384" y="2727472"/>
            <a:ext cx="0" cy="193121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072384" y="2727472"/>
            <a:ext cx="-80467" cy="80467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072384" y="2727472"/>
            <a:ext cx="80467" cy="80467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943636" y="2944734"/>
            <a:ext cx="257495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943636" y="2944734"/>
            <a:ext cx="0" cy="7242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201132" y="2944734"/>
            <a:ext cx="0" cy="7242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2943636" y="3017154"/>
            <a:ext cx="257495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2304288" y="344728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Upload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2249424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· PDF · document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5861304" y="26609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45152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26864" y="2496312"/>
            <a:ext cx="768096" cy="768096"/>
          </a:xfrm>
          <a:prstGeom prst="ellipse">
            <a:avLst/>
          </a:prstGeom>
          <a:solidFill>
            <a:srgbClr val="17171C"/>
          </a:solidFill>
          <a:ln w="19050">
            <a:solidFill>
              <a:srgbClr val="2FC4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6071" y="2824033"/>
            <a:ext cx="0" cy="112654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914351" y="2779776"/>
            <a:ext cx="0" cy="201168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962632" y="2727472"/>
            <a:ext cx="0" cy="305775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5010912" y="2795869"/>
            <a:ext cx="0" cy="168981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5059192" y="2711379"/>
            <a:ext cx="0" cy="337962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107473" y="2767706"/>
            <a:ext cx="0" cy="225308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5155753" y="2815986"/>
            <a:ext cx="0" cy="128748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4242816" y="344728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Transcribe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4187952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+ timestamps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7799832" y="26609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83680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65392" y="2496312"/>
            <a:ext cx="768096" cy="768096"/>
          </a:xfrm>
          <a:prstGeom prst="ellipse">
            <a:avLst/>
          </a:prstGeom>
          <a:solidFill>
            <a:srgbClr val="17171C"/>
          </a:solidFill>
          <a:ln w="19050">
            <a:solidFill>
              <a:srgbClr val="2FC49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28739" y="2711379"/>
            <a:ext cx="241402" cy="329916"/>
          </a:xfrm>
          <a:prstGeom prst="rect">
            <a:avLst/>
          </a:prstGeom>
          <a:solidFill>
            <a:srgbClr val="101014">
              <a:alpha val="0"/>
            </a:srgbClr>
          </a:solidFill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6836786" y="2755636"/>
            <a:ext cx="225308" cy="80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872996" y="2872313"/>
            <a:ext cx="152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72996" y="2924617"/>
            <a:ext cx="152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72996" y="2976921"/>
            <a:ext cx="11265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81344" y="344728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6126480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→ SOAP / template</a:t>
            </a:r>
            <a:endParaRPr lang="en-US" sz="970" dirty="0"/>
          </a:p>
        </p:txBody>
      </p:sp>
      <p:sp>
        <p:nvSpPr>
          <p:cNvPr id="57" name="Text 55"/>
          <p:cNvSpPr/>
          <p:nvPr/>
        </p:nvSpPr>
        <p:spPr>
          <a:xfrm>
            <a:off x="9738360" y="26609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22208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503920" y="2496312"/>
            <a:ext cx="768096" cy="768096"/>
          </a:xfrm>
          <a:prstGeom prst="ellipse">
            <a:avLst/>
          </a:prstGeom>
          <a:solidFill>
            <a:srgbClr val="17171C"/>
          </a:solidFill>
          <a:ln w="19050">
            <a:solidFill>
              <a:srgbClr val="2FC49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27034" y="2787823"/>
            <a:ext cx="321869" cy="185075"/>
          </a:xfrm>
          <a:prstGeom prst="ellipse">
            <a:avLst/>
          </a:prstGeom>
          <a:solidFill>
            <a:srgbClr val="101014">
              <a:alpha val="0"/>
            </a:srgbClr>
          </a:solidFill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8843711" y="2836103"/>
            <a:ext cx="88514" cy="8851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19872" y="344728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1550" dirty="0"/>
          </a:p>
        </p:txBody>
      </p:sp>
      <p:sp>
        <p:nvSpPr>
          <p:cNvPr id="63" name="Text 61"/>
          <p:cNvSpPr/>
          <p:nvPr/>
        </p:nvSpPr>
        <p:spPr>
          <a:xfrm>
            <a:off x="8065008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+ transcript evidence</a:t>
            </a:r>
            <a:endParaRPr lang="en-US" sz="970" dirty="0"/>
          </a:p>
        </p:txBody>
      </p:sp>
      <p:sp>
        <p:nvSpPr>
          <p:cNvPr id="64" name="Text 62"/>
          <p:cNvSpPr/>
          <p:nvPr/>
        </p:nvSpPr>
        <p:spPr>
          <a:xfrm>
            <a:off x="10460736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0442448" y="2496312"/>
            <a:ext cx="768096" cy="768096"/>
          </a:xfrm>
          <a:prstGeom prst="ellipse">
            <a:avLst/>
          </a:prstGeom>
          <a:solidFill>
            <a:srgbClr val="17171C"/>
          </a:solidFill>
          <a:ln w="19050">
            <a:solidFill>
              <a:srgbClr val="2FC49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57515" y="2711379"/>
            <a:ext cx="337962" cy="337962"/>
          </a:xfrm>
          <a:prstGeom prst="ellipse">
            <a:avLst/>
          </a:prstGeom>
          <a:solidFill>
            <a:srgbClr val="101014">
              <a:alpha val="0"/>
            </a:srgbClr>
          </a:solidFill>
          <a:ln w="222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Text 65"/>
          <p:cNvSpPr/>
          <p:nvPr/>
        </p:nvSpPr>
        <p:spPr>
          <a:xfrm>
            <a:off x="10689702" y="2751612"/>
            <a:ext cx="273588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72" dirty="0"/>
          </a:p>
        </p:txBody>
      </p:sp>
      <p:sp>
        <p:nvSpPr>
          <p:cNvPr id="68" name="Text 66"/>
          <p:cNvSpPr/>
          <p:nvPr/>
        </p:nvSpPr>
        <p:spPr>
          <a:xfrm>
            <a:off x="10058400" y="344728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</a:t>
            </a:r>
            <a:endParaRPr lang="en-US" sz="1550" dirty="0"/>
          </a:p>
        </p:txBody>
      </p:sp>
      <p:sp>
        <p:nvSpPr>
          <p:cNvPr id="69" name="Text 67"/>
          <p:cNvSpPr/>
          <p:nvPr/>
        </p:nvSpPr>
        <p:spPr>
          <a:xfrm>
            <a:off x="10003536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· reprocess · save</a:t>
            </a:r>
            <a:endParaRPr lang="en-US" sz="970" dirty="0"/>
          </a:p>
        </p:txBody>
      </p:sp>
      <p:sp>
        <p:nvSpPr>
          <p:cNvPr id="70" name="Shape 68"/>
          <p:cNvSpPr/>
          <p:nvPr/>
        </p:nvSpPr>
        <p:spPr>
          <a:xfrm>
            <a:off x="1554480" y="4846320"/>
            <a:ext cx="9079992" cy="932688"/>
          </a:xfrm>
          <a:prstGeom prst="roundRect">
            <a:avLst>
              <a:gd name="adj" fmla="val 7843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938528" y="5102352"/>
            <a:ext cx="384048" cy="384048"/>
          </a:xfrm>
          <a:prstGeom prst="ellipse">
            <a:avLst/>
          </a:prstGeom>
          <a:solidFill>
            <a:srgbClr val="101014">
              <a:alpha val="0"/>
            </a:srgbClr>
          </a:solidFill>
          <a:ln w="22225">
            <a:solidFill>
              <a:srgbClr val="2FC49E"/>
            </a:solidFill>
            <a:prstDash val="solid"/>
            <a:headEnd type="none"/>
            <a:tailEnd type="none"/>
          </a:ln>
        </p:spPr>
      </p:sp>
      <p:sp>
        <p:nvSpPr>
          <p:cNvPr id="72" name="Text 70"/>
          <p:cNvSpPr/>
          <p:nvPr/>
        </p:nvSpPr>
        <p:spPr>
          <a:xfrm>
            <a:off x="1975104" y="5148072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00" dirty="0"/>
          </a:p>
        </p:txBody>
      </p:sp>
      <p:sp>
        <p:nvSpPr>
          <p:cNvPr id="73" name="Text 71"/>
          <p:cNvSpPr/>
          <p:nvPr/>
        </p:nvSpPr>
        <p:spPr>
          <a:xfrm>
            <a:off x="2606040" y="49834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Human review is the final step, not a footnote.</a:t>
            </a:r>
            <a:endParaRPr lang="en-US" sz="1550" dirty="0"/>
          </a:p>
        </p:txBody>
      </p:sp>
      <p:sp>
        <p:nvSpPr>
          <p:cNvPr id="74" name="Text 72"/>
          <p:cNvSpPr/>
          <p:nvPr/>
        </p:nvSpPr>
        <p:spPr>
          <a:xfrm>
            <a:off x="2606040" y="532180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SOAP note is labeled an unverified draft until a clinician reviews and edits it.</a:t>
            </a:r>
            <a:endParaRPr lang="en-US" sz="1080" dirty="0"/>
          </a:p>
        </p:txBody>
      </p:sp>
      <p:sp>
        <p:nvSpPr>
          <p:cNvPr id="75" name="Text 73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in Action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in 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one day. </a:t>
            </a:r>
            <a:pPr indent="0" marL="0">
              <a:buNone/>
            </a:pPr>
            <a:r>
              <a:rPr lang="en-US" sz="26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before it was demoed</a:t>
            </a:r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30936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7452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65960" y="191109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characters after redaction — select-all, text-search, re-OCR, metadata audit all pass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630936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07792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65960" y="29443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Safe Harbor identifier categories flagged on a synthetic patient record, live coverage panel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49624"/>
            <a:ext cx="630936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41064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965960" y="3977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checks the tool runs against its own output on every single export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882896"/>
            <a:ext cx="630936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974336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GB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965960" y="501091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laptop GPU is enough — a hardware probe picks the right Gemma 4 variant per machine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69480" y="1783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 INDEX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148840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22037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26680" y="220370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SELECT-ALL TEST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64040" y="22037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selectable characters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155680" y="2221992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28" name="Text 26"/>
          <p:cNvSpPr/>
          <p:nvPr/>
        </p:nvSpPr>
        <p:spPr>
          <a:xfrm>
            <a:off x="11155680" y="22037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269480" y="2807208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2862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26680" y="28620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TEXT-SEARCH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64040" y="28620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redacted string findable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155680" y="288036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34" name="Text 32"/>
          <p:cNvSpPr/>
          <p:nvPr/>
        </p:nvSpPr>
        <p:spPr>
          <a:xfrm>
            <a:off x="11155680" y="28620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269480" y="3465576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36" name="Text 34"/>
          <p:cNvSpPr/>
          <p:nvPr/>
        </p:nvSpPr>
        <p:spPr>
          <a:xfrm>
            <a:off x="7269480" y="3520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2668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RE-OCR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464040" y="3520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readable survives in pixels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155680" y="353872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40" name="Text 38"/>
          <p:cNvSpPr/>
          <p:nvPr/>
        </p:nvSpPr>
        <p:spPr>
          <a:xfrm>
            <a:off x="11155680" y="35204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269480" y="4123944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42" name="Text 40"/>
          <p:cNvSpPr/>
          <p:nvPr/>
        </p:nvSpPr>
        <p:spPr>
          <a:xfrm>
            <a:off x="7269480" y="4178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26680" y="41788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AUDIT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464040" y="41788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dictionary empty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1155680" y="4197096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46" name="Text 44"/>
          <p:cNvSpPr/>
          <p:nvPr/>
        </p:nvSpPr>
        <p:spPr>
          <a:xfrm>
            <a:off x="11155680" y="41788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69480" y="4782312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48" name="Text 46"/>
          <p:cNvSpPr/>
          <p:nvPr/>
        </p:nvSpPr>
        <p:spPr>
          <a:xfrm>
            <a:off x="7269480" y="48371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26680" y="48371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PANEL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464040" y="48371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connections: zero, live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155680" y="4855464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52" name="Text 50"/>
          <p:cNvSpPr/>
          <p:nvPr/>
        </p:nvSpPr>
        <p:spPr>
          <a:xfrm>
            <a:off x="11155680" y="48371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269480" y="5440680"/>
            <a:ext cx="43891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54" name="Text 52"/>
          <p:cNvSpPr/>
          <p:nvPr/>
        </p:nvSpPr>
        <p:spPr>
          <a:xfrm>
            <a:off x="7269480" y="54955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26680" y="54955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REPLAY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464040" y="5495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reorganization reversed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155680" y="5513832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DEDE6"/>
          </a:solidFill>
          <a:ln/>
        </p:spPr>
      </p:sp>
      <p:sp>
        <p:nvSpPr>
          <p:cNvPr id="58" name="Text 56"/>
          <p:cNvSpPr/>
          <p:nvPr/>
        </p:nvSpPr>
        <p:spPr>
          <a:xfrm>
            <a:off x="11155680" y="549554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in 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charges </a:t>
            </a:r>
            <a:pPr indent="0" marL="0">
              <a:buNone/>
            </a:pPr>
            <a:r>
              <a:rPr lang="en-US" sz="2500" b="1" u="sng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$15,000+ a year</a:t>
            </a:r>
            <a:pPr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what a two-provider clinic gets here at $0.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1183112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58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SCRIBE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2037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$299–$1,512 / clinician / 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2240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Suki · Nuance DAX Copilot (list $1,512; typical $369–830 + $5k–50k setup) · budget tier Freed $79–119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11183112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72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REDACTION SUITE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31181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$279–$379 / user / mo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31546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CaseGuard Doc &amp; Ultimate suites · budget tier Redactable from $278/yr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11183112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87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IT + HIPAA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40325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$100–$250 / user / mo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40690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small-practice HIPAA-ready MSP plans · HIPAA support adds $15–30/user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1183112" cy="10973"/>
          </a:xfrm>
          <a:prstGeom prst="rect">
            <a:avLst/>
          </a:prstGeom>
          <a:solidFill>
            <a:srgbClr val="2FC49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001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OBSCURA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49469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· forever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5040" y="49834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Apache-2.0, on hardware the clinic already owns — in a $1.2–2.8B market headed to ~$15B by 2034–35, all cloud, none priced for small practices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vendor list / published reseller pages + 2026 pricing guides; market size: Dataintelo, Astute Analytica, SNS Insider, Grand View 2025–26. List prices — verify per quote.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3200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651760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3824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9856" y="438912"/>
            <a:ext cx="118872" cy="118872"/>
          </a:xfrm>
          <a:prstGeom prst="ellipse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438912"/>
            <a:ext cx="118872" cy="118872"/>
          </a:xfrm>
          <a:prstGeom prst="ellipse">
            <a:avLst/>
          </a:prstGeom>
          <a:solidFill>
            <a:srgbClr val="141414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private AI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afternoon.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883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26700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Ollama · pull Gemma 4 (two commands)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64408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467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33284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repo · pip install · run one server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22776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050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39867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Wi-Fi off — everything still works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81144"/>
            <a:ext cx="5760720" cy="10973"/>
          </a:xfrm>
          <a:prstGeom prst="rect">
            <a:avLst/>
          </a:prstGeom>
          <a:solidFill>
            <a:srgbClr val="B9B9B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C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6451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Redact, scan, and organize with a human click on every action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54864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pilot clinics to shape TRANSCRIBE  ·  open-source contributors  ·  EHR-integration partners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960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surfaces generalize 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1554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CLINICS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0" y="2011680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121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LEGAL AID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15200" y="2578608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26883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SOCIAL WORK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0" y="3145536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32552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SCHOOLS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315200" y="3712464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38221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FOIA OFFICES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15200" y="4279392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9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COURTS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315200" y="4846320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4956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A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SHELTERS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315200" y="5413248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0" y="55229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C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FOR EVERYONE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315200" y="5980176"/>
            <a:ext cx="4343400" cy="10973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herein describes a working prototype built at the GDG “Build &amp; Hack with Gemma 4.0” sprint. All demo data synthetic — no real PHI. © Obscura contributors, Apache-2.0.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111831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fast as AI.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private as a locked filing cabinet.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977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FC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models made this inevitable. We just built it first.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9B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OBSCURA   ·   GITHUB.COM/MEETKPATEL/OBSCURA   ·   BUILT ON GEMMA 4   ·   APACHE-2.0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097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5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-+++++-+-++++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2026-07-19T00:39:47Z</dcterms:created>
  <dcterms:modified xsi:type="dcterms:W3CDTF">2026-07-19T00:39:47Z</dcterms:modified>
</cp:coreProperties>
</file>