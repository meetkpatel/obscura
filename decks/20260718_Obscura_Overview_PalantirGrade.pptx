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_redact_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0"/>
            <a:ext cx="48737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315200" y="0"/>
            <a:ext cx="18288" cy="6858000"/>
          </a:xfrm>
          <a:prstGeom prst="rect">
            <a:avLst/>
          </a:prstGeom>
          <a:solidFill>
            <a:srgbClr val="2A2A32"/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777240"/>
            <a:ext cx="6583680" cy="2514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7200"/>
              </a:lnSpc>
              <a:buNone/>
            </a:pPr>
            <a:r>
              <a:rPr lang="en-US" sz="6200" dirty="0">
                <a:solidFill>
                  <a:srgbClr val="FFFFFF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Obscura</a:t>
            </a:r>
            <a:endParaRPr lang="en-US" sz="6200" dirty="0"/>
          </a:p>
          <a:p>
            <a:pPr indent="0" marL="0">
              <a:lnSpc>
                <a:spcPts val="7200"/>
              </a:lnSpc>
              <a:buNone/>
            </a:pPr>
            <a:r>
              <a:rPr lang="en-US" sz="6200" dirty="0">
                <a:solidFill>
                  <a:srgbClr val="FFFFFF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Overview</a:t>
            </a:r>
            <a:endParaRPr lang="en-US" sz="6200" dirty="0"/>
          </a:p>
        </p:txBody>
      </p:sp>
      <p:sp>
        <p:nvSpPr>
          <p:cNvPr id="5" name="Text 2"/>
          <p:cNvSpPr/>
          <p:nvPr/>
        </p:nvSpPr>
        <p:spPr>
          <a:xfrm>
            <a:off x="502920" y="342900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9B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clinical AI on the clinic’s own laptop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0195560" y="3200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spc="300" kern="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OBSCURA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02920" y="4206240"/>
            <a:ext cx="6400800" cy="10973"/>
          </a:xfrm>
          <a:prstGeom prst="rect">
            <a:avLst/>
          </a:prstGeom>
          <a:solidFill>
            <a:srgbClr val="55555A"/>
          </a:solidFill>
          <a:ln/>
        </p:spPr>
      </p:sp>
      <p:sp>
        <p:nvSpPr>
          <p:cNvPr id="8" name="Text 5"/>
          <p:cNvSpPr/>
          <p:nvPr/>
        </p:nvSpPr>
        <p:spPr>
          <a:xfrm>
            <a:off x="502920" y="4315968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2FC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BUILT FOR /  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B9B9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COMMUNITY CLINICS · SMALL &amp; RURAL PRACTICES · FQHCs — AND EVERY HEALTH SYSTEM ALREADY PAYING FOR CLOUD TRANSCRIPTION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02920" y="4864608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2FC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MARKET PROOF /  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B9B9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EMORY · YALE NEW HAVEN · UNC HEALTH · CHRISTUS · COREWELL · U. KANSAS HEALTH SYSTEM +8 MORE ALREADY BUY CLOUD SCRIBES (ABRIDGE PUBLIC ROSTER) — SUKI COUNTS 300 SYSTEM &amp; CLINIC CLIENTS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02920" y="5806440"/>
            <a:ext cx="2377440" cy="10973"/>
          </a:xfrm>
          <a:prstGeom prst="rect">
            <a:avLst/>
          </a:prstGeom>
          <a:solidFill>
            <a:srgbClr val="55555A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5806440"/>
            <a:ext cx="2377440" cy="10973"/>
          </a:xfrm>
          <a:prstGeom prst="rect">
            <a:avLst/>
          </a:prstGeom>
          <a:solidFill>
            <a:srgbClr val="55555A"/>
          </a:solidFill>
          <a:ln/>
        </p:spPr>
      </p:sp>
      <p:sp>
        <p:nvSpPr>
          <p:cNvPr id="12" name="Shape 9"/>
          <p:cNvSpPr/>
          <p:nvPr/>
        </p:nvSpPr>
        <p:spPr>
          <a:xfrm>
            <a:off x="5623560" y="5806440"/>
            <a:ext cx="1508760" cy="10973"/>
          </a:xfrm>
          <a:prstGeom prst="rect">
            <a:avLst/>
          </a:prstGeom>
          <a:solidFill>
            <a:srgbClr val="55555A"/>
          </a:solidFill>
          <a:ln/>
        </p:spPr>
      </p:sp>
      <p:sp>
        <p:nvSpPr>
          <p:cNvPr id="13" name="Text 10"/>
          <p:cNvSpPr/>
          <p:nvPr/>
        </p:nvSpPr>
        <p:spPr>
          <a:xfrm>
            <a:off x="502920" y="589788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B9B9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OBSCURA / SOFTWARE</a:t>
            </a:r>
            <a:endParaRPr lang="en-US" sz="8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B9B9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FOUR TOOLS. ONE LAPTOP.</a:t>
            </a:r>
            <a:endParaRPr lang="en-US" sz="8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B9B9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ZERO CLOUD.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3063240" y="589788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B9B9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LICENSE /  APACHE-2.0</a:t>
            </a:r>
            <a:endParaRPr lang="en-US" sz="8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B9B9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/  GEMMA 4, LOCAL</a:t>
            </a:r>
            <a:endParaRPr lang="en-US" sz="8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B9B9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PATH /  STAYS HOME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5623560" y="589788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B9B9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BUILT /  JULY 2026</a:t>
            </a:r>
            <a:endParaRPr lang="en-US" sz="8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B9B9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GITHUB.COM/</a:t>
            </a:r>
            <a:endParaRPr lang="en-US" sz="8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B9B9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MEETKPATEL/OBSCURA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1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182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┌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228600" y="6309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2920" y="306324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555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Obscura →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760720" y="3063240"/>
            <a:ext cx="5852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This Is For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9509760" y="64008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5555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-+++++-+-++++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0" y="320040"/>
            <a:ext cx="868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OBSCURA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2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OBSCURA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2651760" y="438912"/>
            <a:ext cx="118872" cy="118872"/>
          </a:xfrm>
          <a:prstGeom prst="ellipse">
            <a:avLst/>
          </a:prstGeom>
          <a:solidFill>
            <a:srgbClr val="141414"/>
          </a:solidFill>
          <a:ln w="9525">
            <a:solidFill>
              <a:srgbClr val="8C8C8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907792" y="438912"/>
            <a:ext cx="118872" cy="118872"/>
          </a:xfrm>
          <a:prstGeom prst="ellipse">
            <a:avLst/>
          </a:prstGeom>
          <a:ln w="9525">
            <a:solidFill>
              <a:srgbClr val="8C8C8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163824" y="438912"/>
            <a:ext cx="118872" cy="118872"/>
          </a:xfrm>
          <a:prstGeom prst="ellipse">
            <a:avLst/>
          </a:prstGeom>
          <a:ln w="9525">
            <a:solidFill>
              <a:srgbClr val="8C8C8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19856" y="438912"/>
            <a:ext cx="118872" cy="118872"/>
          </a:xfrm>
          <a:prstGeom prst="ellipse">
            <a:avLst/>
          </a:prstGeom>
          <a:ln w="9525">
            <a:solidFill>
              <a:srgbClr val="8C8C8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75888" y="438912"/>
            <a:ext cx="118872" cy="118872"/>
          </a:xfrm>
          <a:prstGeom prst="ellipse">
            <a:avLst/>
          </a:prstGeom>
          <a:ln w="9525">
            <a:solidFill>
              <a:srgbClr val="8C8C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69080" y="3474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This Is For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914400"/>
            <a:ext cx="6035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Obscura builds private AI for </a:t>
            </a:r>
            <a:pPr indent="0" marL="0">
              <a:buNone/>
            </a:pPr>
            <a:r>
              <a:rPr lang="en-US" sz="2800" b="1" u="sng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clinics America runs on</a:t>
            </a:r>
            <a:pPr indent="0" marL="0">
              <a:buNone/>
            </a:pPr>
            <a:r>
              <a:rPr lang="en-US" sz="28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502920" y="2514600"/>
            <a:ext cx="5760720" cy="10973"/>
          </a:xfrm>
          <a:prstGeom prst="rect">
            <a:avLst/>
          </a:prstGeom>
          <a:solidFill>
            <a:srgbClr val="B9B9B4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578608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C8C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DESK TAX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194560" y="2578608"/>
            <a:ext cx="406908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hours of desk + EHR work per 1 hour of direct patient care.  </a:t>
            </a:r>
            <a:pPr indent="0" marL="0">
              <a:buNone/>
            </a:pPr>
            <a:r>
              <a:rPr lang="en-US" sz="850" i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Sinsky et al., Annals of Internal Medicine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447288"/>
            <a:ext cx="5760720" cy="10973"/>
          </a:xfrm>
          <a:prstGeom prst="rect">
            <a:avLst/>
          </a:prstGeom>
          <a:solidFill>
            <a:srgbClr val="B9B9B4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511296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C8C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EXODUS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194560" y="3511296"/>
            <a:ext cx="406908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in 5 physicians intend to leave medicine within two years.  </a:t>
            </a:r>
            <a:pPr indent="0" marL="0">
              <a:buNone/>
            </a:pPr>
            <a:r>
              <a:rPr lang="en-US" sz="850" i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Mayo Clinic Proceedings survey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4379976"/>
            <a:ext cx="5760720" cy="10973"/>
          </a:xfrm>
          <a:prstGeom prst="rect">
            <a:avLst/>
          </a:prstGeom>
          <a:solidFill>
            <a:srgbClr val="B9B9B4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4443984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C8C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EXPOSURE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194560" y="4443984"/>
            <a:ext cx="406908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$9.8M average healthcare breach — costliest industry, 14 years running.  </a:t>
            </a:r>
            <a:pPr indent="0" marL="0">
              <a:buNone/>
            </a:pPr>
            <a:r>
              <a:rPr lang="en-US" sz="850" i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 Cost of a Data Breach, 2024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02920" y="5312664"/>
            <a:ext cx="5760720" cy="10973"/>
          </a:xfrm>
          <a:prstGeom prst="rect">
            <a:avLst/>
          </a:prstGeom>
          <a:solidFill>
            <a:srgbClr val="B9B9B4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5376672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C8C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PEOPLE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194560" y="5376672"/>
            <a:ext cx="406908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31M+ patients depend on community health centers on thin margins.  </a:t>
            </a:r>
            <a:pPr indent="0" marL="0">
              <a:buNone/>
            </a:pPr>
            <a:r>
              <a:rPr lang="en-US" sz="850" i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HRSA Health Center Program, 2023</a:t>
            </a:r>
            <a:endParaRPr lang="en-US" sz="1150" dirty="0"/>
          </a:p>
        </p:txBody>
      </p:sp>
      <p:pic>
        <p:nvPicPr>
          <p:cNvPr id="22" name="Image 0" descr="img_human_crop_titl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66560" y="914400"/>
            <a:ext cx="4892040" cy="539496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502920" y="65105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9B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content herein describes a working prototype built at the GDG “Build &amp; Hack with Gemma 4.0” sprint. All demo data synthetic — no real PHI. © Obscura contributors, Apache-2.0.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2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OBSCURA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2651760" y="438912"/>
            <a:ext cx="118872" cy="118872"/>
          </a:xfrm>
          <a:prstGeom prst="ellipse">
            <a:avLst/>
          </a:prstGeom>
          <a:solidFill>
            <a:srgbClr val="141414"/>
          </a:solidFill>
          <a:ln w="9525">
            <a:solidFill>
              <a:srgbClr val="8C8C8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907792" y="438912"/>
            <a:ext cx="118872" cy="118872"/>
          </a:xfrm>
          <a:prstGeom prst="ellipse">
            <a:avLst/>
          </a:prstGeom>
          <a:ln w="9525">
            <a:solidFill>
              <a:srgbClr val="8C8C8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163824" y="438912"/>
            <a:ext cx="118872" cy="118872"/>
          </a:xfrm>
          <a:prstGeom prst="ellipse">
            <a:avLst/>
          </a:prstGeom>
          <a:ln w="9525">
            <a:solidFill>
              <a:srgbClr val="8C8C8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19856" y="438912"/>
            <a:ext cx="118872" cy="118872"/>
          </a:xfrm>
          <a:prstGeom prst="ellipse">
            <a:avLst/>
          </a:prstGeom>
          <a:ln w="9525">
            <a:solidFill>
              <a:srgbClr val="8C8C8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75888" y="438912"/>
            <a:ext cx="118872" cy="118872"/>
          </a:xfrm>
          <a:prstGeom prst="ellipse">
            <a:avLst/>
          </a:prstGeom>
          <a:ln w="9525">
            <a:solidFill>
              <a:srgbClr val="8C8C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69080" y="3474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This Is For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868680"/>
            <a:ext cx="6766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market is already paying — </a:t>
            </a:r>
            <a:pPr indent="0" marL="0">
              <a:buNone/>
            </a:pPr>
            <a:r>
              <a:rPr lang="en-US" sz="2600" u="sng" dirty="0">
                <a:solidFill>
                  <a:srgbClr val="1414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just not for everyone</a:t>
            </a:r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.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502920" y="1965960"/>
            <a:ext cx="5989320" cy="10973"/>
          </a:xfrm>
          <a:prstGeom prst="rect">
            <a:avLst/>
          </a:prstGeom>
          <a:solidFill>
            <a:srgbClr val="B9B9B4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039112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C8C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CATEGORY TODAY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331720" y="2039112"/>
            <a:ext cx="4160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$1.2–2.8B AI clinical documentation market, forecast ~$15B by 2034–35 (19–29% CAGR across analyst houses).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2990088"/>
            <a:ext cx="5989320" cy="10973"/>
          </a:xfrm>
          <a:prstGeom prst="rect">
            <a:avLst/>
          </a:prstGeom>
          <a:solidFill>
            <a:srgbClr val="B9B9B4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06324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C8C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INCUMBENTS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331720" y="3063240"/>
            <a:ext cx="4160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Abridge $5.3B valuation · Suki $165M raised, 300 system &amp; clinic clients · Nuance DAX list price $1,512/clinician/mo.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4014216"/>
            <a:ext cx="5989320" cy="10973"/>
          </a:xfrm>
          <a:prstGeom prst="rect">
            <a:avLst/>
          </a:prstGeom>
          <a:solidFill>
            <a:srgbClr val="B9B9B4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4087368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C8C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CEILING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331720" y="4087368"/>
            <a:ext cx="4160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of it cloud. All of it priced for enterprise health systems with IT departments and BAA counsel.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5038344"/>
            <a:ext cx="5989320" cy="10973"/>
          </a:xfrm>
          <a:prstGeom prst="rect">
            <a:avLst/>
          </a:prstGeom>
          <a:solidFill>
            <a:srgbClr val="B9B9B4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5111496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C8C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OPENING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331720" y="5111496"/>
            <a:ext cx="4160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U.S. physicians work in practices of 10 or fewer (AMA benchmark) — the segment no cloud vendor prices for. That segment is ours, at $0.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903720" y="1965960"/>
            <a:ext cx="4800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C8C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WHO ALREADY BUYS CLOUD TRANSCRIPTION — ABRIDGE'S PUBLIC CUSTOMER ROSTER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903720" y="251460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Emory Healthcare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903720" y="2916936"/>
            <a:ext cx="2286000" cy="9144"/>
          </a:xfrm>
          <a:prstGeom prst="rect">
            <a:avLst/>
          </a:prstGeom>
          <a:solidFill>
            <a:srgbClr val="D8D8D2"/>
          </a:solidFill>
          <a:ln/>
        </p:spPr>
      </p:sp>
      <p:sp>
        <p:nvSpPr>
          <p:cNvPr id="25" name="Text 23"/>
          <p:cNvSpPr/>
          <p:nvPr/>
        </p:nvSpPr>
        <p:spPr>
          <a:xfrm>
            <a:off x="9354312" y="251460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Yale New Haven Health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9354312" y="2916936"/>
            <a:ext cx="2286000" cy="9144"/>
          </a:xfrm>
          <a:prstGeom prst="rect">
            <a:avLst/>
          </a:prstGeom>
          <a:solidFill>
            <a:srgbClr val="D8D8D2"/>
          </a:solidFill>
          <a:ln/>
        </p:spPr>
      </p:sp>
      <p:sp>
        <p:nvSpPr>
          <p:cNvPr id="27" name="Text 25"/>
          <p:cNvSpPr/>
          <p:nvPr/>
        </p:nvSpPr>
        <p:spPr>
          <a:xfrm>
            <a:off x="6903720" y="2990088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UNC Health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903720" y="3392424"/>
            <a:ext cx="2286000" cy="9144"/>
          </a:xfrm>
          <a:prstGeom prst="rect">
            <a:avLst/>
          </a:prstGeom>
          <a:solidFill>
            <a:srgbClr val="D8D8D2"/>
          </a:solidFill>
          <a:ln/>
        </p:spPr>
      </p:sp>
      <p:sp>
        <p:nvSpPr>
          <p:cNvPr id="29" name="Text 27"/>
          <p:cNvSpPr/>
          <p:nvPr/>
        </p:nvSpPr>
        <p:spPr>
          <a:xfrm>
            <a:off x="9354312" y="2990088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CHRISTUS Health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9354312" y="3392424"/>
            <a:ext cx="2286000" cy="9144"/>
          </a:xfrm>
          <a:prstGeom prst="rect">
            <a:avLst/>
          </a:prstGeom>
          <a:solidFill>
            <a:srgbClr val="D8D8D2"/>
          </a:solidFill>
          <a:ln/>
        </p:spPr>
      </p:sp>
      <p:sp>
        <p:nvSpPr>
          <p:cNvPr id="31" name="Text 29"/>
          <p:cNvSpPr/>
          <p:nvPr/>
        </p:nvSpPr>
        <p:spPr>
          <a:xfrm>
            <a:off x="6903720" y="3465576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Corewell Health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903720" y="3867912"/>
            <a:ext cx="2286000" cy="9144"/>
          </a:xfrm>
          <a:prstGeom prst="rect">
            <a:avLst/>
          </a:prstGeom>
          <a:solidFill>
            <a:srgbClr val="D8D8D2"/>
          </a:solidFill>
          <a:ln/>
        </p:spPr>
      </p:sp>
      <p:sp>
        <p:nvSpPr>
          <p:cNvPr id="33" name="Text 31"/>
          <p:cNvSpPr/>
          <p:nvPr/>
        </p:nvSpPr>
        <p:spPr>
          <a:xfrm>
            <a:off x="9354312" y="3465576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U. Kansas Health System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9354312" y="3867912"/>
            <a:ext cx="2286000" cy="9144"/>
          </a:xfrm>
          <a:prstGeom prst="rect">
            <a:avLst/>
          </a:prstGeom>
          <a:solidFill>
            <a:srgbClr val="D8D8D2"/>
          </a:solidFill>
          <a:ln/>
        </p:spPr>
      </p:sp>
      <p:sp>
        <p:nvSpPr>
          <p:cNvPr id="35" name="Text 33"/>
          <p:cNvSpPr/>
          <p:nvPr/>
        </p:nvSpPr>
        <p:spPr>
          <a:xfrm>
            <a:off x="6903720" y="3941064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Rochester Regional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903720" y="4343400"/>
            <a:ext cx="2286000" cy="9144"/>
          </a:xfrm>
          <a:prstGeom prst="rect">
            <a:avLst/>
          </a:prstGeom>
          <a:solidFill>
            <a:srgbClr val="D8D8D2"/>
          </a:solidFill>
          <a:ln/>
        </p:spPr>
      </p:sp>
      <p:sp>
        <p:nvSpPr>
          <p:cNvPr id="37" name="Text 35"/>
          <p:cNvSpPr/>
          <p:nvPr/>
        </p:nvSpPr>
        <p:spPr>
          <a:xfrm>
            <a:off x="9354312" y="3941064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Cambridge Health Alliance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9354312" y="4343400"/>
            <a:ext cx="2286000" cy="9144"/>
          </a:xfrm>
          <a:prstGeom prst="rect">
            <a:avLst/>
          </a:prstGeom>
          <a:solidFill>
            <a:srgbClr val="D8D8D2"/>
          </a:solidFill>
          <a:ln/>
        </p:spPr>
      </p:sp>
      <p:sp>
        <p:nvSpPr>
          <p:cNvPr id="39" name="Text 37"/>
          <p:cNvSpPr/>
          <p:nvPr/>
        </p:nvSpPr>
        <p:spPr>
          <a:xfrm>
            <a:off x="6903720" y="4416552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Akron Children’s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903720" y="4818888"/>
            <a:ext cx="2286000" cy="9144"/>
          </a:xfrm>
          <a:prstGeom prst="rect">
            <a:avLst/>
          </a:prstGeom>
          <a:solidFill>
            <a:srgbClr val="D8D8D2"/>
          </a:solidFill>
          <a:ln/>
        </p:spPr>
      </p:sp>
      <p:sp>
        <p:nvSpPr>
          <p:cNvPr id="41" name="Text 39"/>
          <p:cNvSpPr/>
          <p:nvPr/>
        </p:nvSpPr>
        <p:spPr>
          <a:xfrm>
            <a:off x="9354312" y="4416552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Lee Health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9354312" y="4818888"/>
            <a:ext cx="2286000" cy="9144"/>
          </a:xfrm>
          <a:prstGeom prst="rect">
            <a:avLst/>
          </a:prstGeom>
          <a:solidFill>
            <a:srgbClr val="D8D8D2"/>
          </a:solidFill>
          <a:ln/>
        </p:spPr>
      </p:sp>
      <p:sp>
        <p:nvSpPr>
          <p:cNvPr id="43" name="Text 41"/>
          <p:cNvSpPr/>
          <p:nvPr/>
        </p:nvSpPr>
        <p:spPr>
          <a:xfrm>
            <a:off x="6903720" y="489204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Riverside Health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903720" y="5294376"/>
            <a:ext cx="2286000" cy="9144"/>
          </a:xfrm>
          <a:prstGeom prst="rect">
            <a:avLst/>
          </a:prstGeom>
          <a:solidFill>
            <a:srgbClr val="D8D8D2"/>
          </a:solidFill>
          <a:ln/>
        </p:spPr>
      </p:sp>
      <p:sp>
        <p:nvSpPr>
          <p:cNvPr id="45" name="Text 43"/>
          <p:cNvSpPr/>
          <p:nvPr/>
        </p:nvSpPr>
        <p:spPr>
          <a:xfrm>
            <a:off x="9354312" y="489204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Reid Health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9354312" y="5294376"/>
            <a:ext cx="2286000" cy="9144"/>
          </a:xfrm>
          <a:prstGeom prst="rect">
            <a:avLst/>
          </a:prstGeom>
          <a:solidFill>
            <a:srgbClr val="D8D8D2"/>
          </a:solidFill>
          <a:ln/>
        </p:spPr>
      </p:sp>
      <p:sp>
        <p:nvSpPr>
          <p:cNvPr id="47" name="Text 45"/>
          <p:cNvSpPr/>
          <p:nvPr/>
        </p:nvSpPr>
        <p:spPr>
          <a:xfrm>
            <a:off x="6903720" y="5367528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Tanner Health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6903720" y="5769864"/>
            <a:ext cx="2286000" cy="9144"/>
          </a:xfrm>
          <a:prstGeom prst="rect">
            <a:avLst/>
          </a:prstGeom>
          <a:solidFill>
            <a:srgbClr val="D8D8D2"/>
          </a:solidFill>
          <a:ln/>
        </p:spPr>
      </p:sp>
      <p:sp>
        <p:nvSpPr>
          <p:cNvPr id="49" name="Text 47"/>
          <p:cNvSpPr/>
          <p:nvPr/>
        </p:nvSpPr>
        <p:spPr>
          <a:xfrm>
            <a:off x="9354312" y="5367528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U. Vermont Health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9354312" y="5769864"/>
            <a:ext cx="2286000" cy="9144"/>
          </a:xfrm>
          <a:prstGeom prst="rect">
            <a:avLst/>
          </a:prstGeom>
          <a:solidFill>
            <a:srgbClr val="D8D8D2"/>
          </a:solidFill>
          <a:ln/>
        </p:spPr>
      </p:sp>
      <p:sp>
        <p:nvSpPr>
          <p:cNvPr id="51" name="Text 49"/>
          <p:cNvSpPr/>
          <p:nvPr/>
        </p:nvSpPr>
        <p:spPr>
          <a:xfrm>
            <a:off x="6903720" y="5943600"/>
            <a:ext cx="4800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name above signed with a cloud vendor. Every clinic below their size threshold could not — until the tooling became free and local.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02920" y="65105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9B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content herein describes a working prototype built at the GDG “Build &amp; Hack with Gemma 4.0” sprint. All demo data synthetic — no real PHI. © Obscura contributors, Apache-2.0.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1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182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┌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228600" y="6309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2920" y="306324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555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Obscura →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760720" y="3063240"/>
            <a:ext cx="5852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needed for</a:t>
            </a:r>
            <a:endParaRPr lang="en-US" sz="2600" dirty="0"/>
          </a:p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clinical AI?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9509760" y="64008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5555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-+++++-+-++++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0" y="320040"/>
            <a:ext cx="868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OBSCURA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2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OBSCURA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2651760" y="438912"/>
            <a:ext cx="118872" cy="118872"/>
          </a:xfrm>
          <a:prstGeom prst="ellipse">
            <a:avLst/>
          </a:prstGeom>
          <a:ln w="9525">
            <a:solidFill>
              <a:srgbClr val="8C8C8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907792" y="438912"/>
            <a:ext cx="118872" cy="118872"/>
          </a:xfrm>
          <a:prstGeom prst="ellipse">
            <a:avLst/>
          </a:prstGeom>
          <a:solidFill>
            <a:srgbClr val="141414"/>
          </a:solidFill>
          <a:ln w="9525">
            <a:solidFill>
              <a:srgbClr val="8C8C8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163824" y="438912"/>
            <a:ext cx="118872" cy="118872"/>
          </a:xfrm>
          <a:prstGeom prst="ellipse">
            <a:avLst/>
          </a:prstGeom>
          <a:ln w="9525">
            <a:solidFill>
              <a:srgbClr val="8C8C8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19856" y="438912"/>
            <a:ext cx="118872" cy="118872"/>
          </a:xfrm>
          <a:prstGeom prst="ellipse">
            <a:avLst/>
          </a:prstGeom>
          <a:ln w="9525">
            <a:solidFill>
              <a:srgbClr val="8C8C8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75888" y="438912"/>
            <a:ext cx="118872" cy="118872"/>
          </a:xfrm>
          <a:prstGeom prst="ellipse">
            <a:avLst/>
          </a:prstGeom>
          <a:ln w="9525">
            <a:solidFill>
              <a:srgbClr val="8C8C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69080" y="3474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Clinical AI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868680"/>
            <a:ext cx="6949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does AI reach the exam room </a:t>
            </a:r>
            <a:pPr indent="0" marL="0">
              <a:buNone/>
            </a:pPr>
            <a:r>
              <a:rPr lang="en-US" sz="2600" b="1" u="sng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safely</a:t>
            </a:r>
            <a:pPr indent="0" marL="0">
              <a:buNone/>
            </a:pPr>
            <a:r>
              <a:rPr lang="en-US" sz="26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502920" y="2011680"/>
            <a:ext cx="11183112" cy="4160520"/>
          </a:xfrm>
          <a:prstGeom prst="roundRect">
            <a:avLst>
              <a:gd name="adj" fmla="val 2637"/>
            </a:avLst>
          </a:prstGeom>
          <a:solidFill>
            <a:srgbClr val="101014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237744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clinic’s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reality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051560" y="3291840"/>
            <a:ext cx="21031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B9B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 audio</a:t>
            </a:r>
            <a:endParaRPr lang="en-US" sz="1150" dirty="0"/>
          </a:p>
          <a:p>
            <a:pPr algn="ctr" indent="0" marL="0">
              <a:lnSpc>
                <a:spcPts val="1700"/>
              </a:lnSpc>
              <a:buNone/>
            </a:pPr>
            <a:endParaRPr lang="en-US" sz="115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B9B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documents</a:t>
            </a:r>
            <a:endParaRPr lang="en-US" sz="1150" dirty="0"/>
          </a:p>
          <a:p>
            <a:pPr algn="ctr" indent="0" marL="0">
              <a:lnSpc>
                <a:spcPts val="1700"/>
              </a:lnSpc>
              <a:buNone/>
            </a:pPr>
            <a:endParaRPr lang="en-US" sz="115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B9B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messy file system</a:t>
            </a:r>
            <a:endParaRPr lang="en-US" sz="1150" dirty="0"/>
          </a:p>
          <a:p>
            <a:pPr algn="ctr" indent="0" marL="0">
              <a:lnSpc>
                <a:spcPts val="1700"/>
              </a:lnSpc>
              <a:buNone/>
            </a:pPr>
            <a:endParaRPr lang="en-US" sz="115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B9B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aging laptop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9052560" y="237744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clinician’s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9052560" y="3291840"/>
            <a:ext cx="21031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B9B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Signed notes</a:t>
            </a:r>
            <a:endParaRPr lang="en-US" sz="1150" dirty="0"/>
          </a:p>
          <a:p>
            <a:pPr algn="ctr" indent="0" marL="0">
              <a:lnSpc>
                <a:spcPts val="1700"/>
              </a:lnSpc>
              <a:buNone/>
            </a:pPr>
            <a:endParaRPr lang="en-US" sz="115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B9B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Shareable, safe records</a:t>
            </a:r>
            <a:endParaRPr lang="en-US" sz="1150" dirty="0"/>
          </a:p>
          <a:p>
            <a:pPr algn="ctr" indent="0" marL="0">
              <a:lnSpc>
                <a:spcPts val="1700"/>
              </a:lnSpc>
              <a:buNone/>
            </a:pPr>
            <a:endParaRPr lang="en-US" sz="115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B9B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protected machine</a:t>
            </a:r>
            <a:endParaRPr lang="en-US" sz="1150" dirty="0"/>
          </a:p>
          <a:p>
            <a:pPr algn="ctr" indent="0" marL="0">
              <a:lnSpc>
                <a:spcPts val="1700"/>
              </a:lnSpc>
              <a:buNone/>
            </a:pPr>
            <a:endParaRPr lang="en-US" sz="115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B9B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Findable files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246120" y="3840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412480" y="3840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5532120" y="3703320"/>
            <a:ext cx="1097280" cy="822960"/>
          </a:xfrm>
          <a:prstGeom prst="rect">
            <a:avLst/>
          </a:prstGeom>
          <a:ln w="15875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32120" y="370332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502920" y="65105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9B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content herein describes a working prototype built at the GDG “Build &amp; Hack with Gemma 4.0” sprint. All demo data synthetic — no real PHI. © Obscura contributors, Apache-2.0.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2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OBSCURA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2651760" y="438912"/>
            <a:ext cx="118872" cy="118872"/>
          </a:xfrm>
          <a:prstGeom prst="ellipse">
            <a:avLst/>
          </a:prstGeom>
          <a:ln w="9525">
            <a:solidFill>
              <a:srgbClr val="8C8C8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907792" y="438912"/>
            <a:ext cx="118872" cy="118872"/>
          </a:xfrm>
          <a:prstGeom prst="ellipse">
            <a:avLst/>
          </a:prstGeom>
          <a:solidFill>
            <a:srgbClr val="141414"/>
          </a:solidFill>
          <a:ln w="9525">
            <a:solidFill>
              <a:srgbClr val="8C8C8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163824" y="438912"/>
            <a:ext cx="118872" cy="118872"/>
          </a:xfrm>
          <a:prstGeom prst="ellipse">
            <a:avLst/>
          </a:prstGeom>
          <a:ln w="9525">
            <a:solidFill>
              <a:srgbClr val="8C8C8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19856" y="438912"/>
            <a:ext cx="118872" cy="118872"/>
          </a:xfrm>
          <a:prstGeom prst="ellipse">
            <a:avLst/>
          </a:prstGeom>
          <a:ln w="9525">
            <a:solidFill>
              <a:srgbClr val="8C8C8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75888" y="438912"/>
            <a:ext cx="118872" cy="118872"/>
          </a:xfrm>
          <a:prstGeom prst="ellipse">
            <a:avLst/>
          </a:prstGeom>
          <a:ln w="9525">
            <a:solidFill>
              <a:srgbClr val="8C8C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69080" y="3474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Clinical AI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868680"/>
            <a:ext cx="6949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through the cloud.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772400" y="868680"/>
            <a:ext cx="3931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 AI tools won’t sign a HIPAA Business Associate Agreement. For a patient record, the upload is the disclosure.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2011680"/>
            <a:ext cx="11183112" cy="4160520"/>
          </a:xfrm>
          <a:prstGeom prst="roundRect">
            <a:avLst>
              <a:gd name="adj" fmla="val 2637"/>
            </a:avLst>
          </a:prstGeom>
          <a:solidFill>
            <a:srgbClr val="101014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237744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clinic’s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reality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051560" y="3291840"/>
            <a:ext cx="21031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B9B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 audio</a:t>
            </a:r>
            <a:endParaRPr lang="en-US" sz="1150" dirty="0"/>
          </a:p>
          <a:p>
            <a:pPr algn="ctr" indent="0" marL="0">
              <a:lnSpc>
                <a:spcPts val="1700"/>
              </a:lnSpc>
              <a:buNone/>
            </a:pPr>
            <a:endParaRPr lang="en-US" sz="115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B9B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documents</a:t>
            </a:r>
            <a:endParaRPr lang="en-US" sz="1150" dirty="0"/>
          </a:p>
          <a:p>
            <a:pPr algn="ctr" indent="0" marL="0">
              <a:lnSpc>
                <a:spcPts val="1700"/>
              </a:lnSpc>
              <a:buNone/>
            </a:pPr>
            <a:endParaRPr lang="en-US" sz="115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B9B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messy file system</a:t>
            </a:r>
            <a:endParaRPr lang="en-US" sz="1150" dirty="0"/>
          </a:p>
          <a:p>
            <a:pPr algn="ctr" indent="0" marL="0">
              <a:lnSpc>
                <a:spcPts val="1700"/>
              </a:lnSpc>
              <a:buNone/>
            </a:pPr>
            <a:endParaRPr lang="en-US" sz="115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B9B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aging laptop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9052560" y="237744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clinician’s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052560" y="3291840"/>
            <a:ext cx="21031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B9B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Signed notes</a:t>
            </a:r>
            <a:endParaRPr lang="en-US" sz="1150" dirty="0"/>
          </a:p>
          <a:p>
            <a:pPr algn="ctr" indent="0" marL="0">
              <a:lnSpc>
                <a:spcPts val="1700"/>
              </a:lnSpc>
              <a:buNone/>
            </a:pPr>
            <a:endParaRPr lang="en-US" sz="115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B9B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Shareable, safe records</a:t>
            </a:r>
            <a:endParaRPr lang="en-US" sz="1150" dirty="0"/>
          </a:p>
          <a:p>
            <a:pPr algn="ctr" indent="0" marL="0">
              <a:lnSpc>
                <a:spcPts val="1700"/>
              </a:lnSpc>
              <a:buNone/>
            </a:pPr>
            <a:endParaRPr lang="en-US" sz="115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B9B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protected machine</a:t>
            </a:r>
            <a:endParaRPr lang="en-US" sz="1150" dirty="0"/>
          </a:p>
          <a:p>
            <a:pPr algn="ctr" indent="0" marL="0">
              <a:lnSpc>
                <a:spcPts val="1700"/>
              </a:lnSpc>
              <a:buNone/>
            </a:pPr>
            <a:endParaRPr lang="en-US" sz="115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B9B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Findable files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246120" y="3840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412480" y="3840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069080" y="28803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9B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AI scribes · chatbots · SaaS redaction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26280" y="3383280"/>
            <a:ext cx="3108960" cy="1234440"/>
          </a:xfrm>
          <a:prstGeom prst="roundRect">
            <a:avLst>
              <a:gd name="adj" fmla="val 5926"/>
            </a:avLst>
          </a:prstGeom>
          <a:solidFill>
            <a:srgbClr val="17171C"/>
          </a:solidFill>
          <a:ln w="12700">
            <a:solidFill>
              <a:srgbClr val="3232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26280" y="3474720"/>
            <a:ext cx="3108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B9B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$299–$1,512 / clinician / mo</a:t>
            </a:r>
            <a:endParaRPr lang="en-US" sz="10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B9B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BAA + subprocessors to audit</a:t>
            </a:r>
            <a:endParaRPr lang="en-US" sz="10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B9B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 leaves the building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779008" y="4892040"/>
            <a:ext cx="603504" cy="603504"/>
          </a:xfrm>
          <a:prstGeom prst="ellipse">
            <a:avLst/>
          </a:prstGeom>
          <a:solidFill>
            <a:srgbClr val="E05A55"/>
          </a:solidFill>
          <a:ln/>
        </p:spPr>
      </p:sp>
      <p:sp>
        <p:nvSpPr>
          <p:cNvPr id="22" name="Text 20"/>
          <p:cNvSpPr/>
          <p:nvPr/>
        </p:nvSpPr>
        <p:spPr>
          <a:xfrm>
            <a:off x="5779008" y="4873752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02920" y="65105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9B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content herein describes a working prototype built at the GDG “Build &amp; Hack with Gemma 4.0” sprint. All demo data synthetic — no real PHI. © Obscura contributors, Apache-2.0.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2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OBSCURA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2651760" y="438912"/>
            <a:ext cx="118872" cy="118872"/>
          </a:xfrm>
          <a:prstGeom prst="ellipse">
            <a:avLst/>
          </a:prstGeom>
          <a:ln w="9525">
            <a:solidFill>
              <a:srgbClr val="8C8C8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907792" y="438912"/>
            <a:ext cx="118872" cy="118872"/>
          </a:xfrm>
          <a:prstGeom prst="ellipse">
            <a:avLst/>
          </a:prstGeom>
          <a:solidFill>
            <a:srgbClr val="141414"/>
          </a:solidFill>
          <a:ln w="9525">
            <a:solidFill>
              <a:srgbClr val="8C8C8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163824" y="438912"/>
            <a:ext cx="118872" cy="118872"/>
          </a:xfrm>
          <a:prstGeom prst="ellipse">
            <a:avLst/>
          </a:prstGeom>
          <a:ln w="9525">
            <a:solidFill>
              <a:srgbClr val="8C8C8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19856" y="438912"/>
            <a:ext cx="118872" cy="118872"/>
          </a:xfrm>
          <a:prstGeom prst="ellipse">
            <a:avLst/>
          </a:prstGeom>
          <a:ln w="9525">
            <a:solidFill>
              <a:srgbClr val="8C8C8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75888" y="438912"/>
            <a:ext cx="118872" cy="118872"/>
          </a:xfrm>
          <a:prstGeom prst="ellipse">
            <a:avLst/>
          </a:prstGeom>
          <a:ln w="9525">
            <a:solidFill>
              <a:srgbClr val="8C8C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69080" y="3474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Clinical AI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868680"/>
            <a:ext cx="6949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Through one engine that </a:t>
            </a:r>
            <a:pPr indent="0" marL="0">
              <a:buNone/>
            </a:pPr>
            <a:r>
              <a:rPr lang="en-US" sz="2600" b="1" u="sng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leaves the room</a:t>
            </a:r>
            <a:pPr indent="0" marL="0">
              <a:buNone/>
            </a:pPr>
            <a:r>
              <a:rPr lang="en-US" sz="26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772400" y="868680"/>
            <a:ext cx="3931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Gemma 4 — open weights, Apache-2.0 — runs frontier reasoning on the laptop the clinic already owns.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2011680"/>
            <a:ext cx="11183112" cy="4160520"/>
          </a:xfrm>
          <a:prstGeom prst="roundRect">
            <a:avLst>
              <a:gd name="adj" fmla="val 2637"/>
            </a:avLst>
          </a:prstGeom>
          <a:solidFill>
            <a:srgbClr val="101014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237744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clinic’s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reality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051560" y="3291840"/>
            <a:ext cx="21031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B9B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 audio</a:t>
            </a:r>
            <a:endParaRPr lang="en-US" sz="1150" dirty="0"/>
          </a:p>
          <a:p>
            <a:pPr algn="ctr" indent="0" marL="0">
              <a:lnSpc>
                <a:spcPts val="1700"/>
              </a:lnSpc>
              <a:buNone/>
            </a:pPr>
            <a:endParaRPr lang="en-US" sz="115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B9B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documents</a:t>
            </a:r>
            <a:endParaRPr lang="en-US" sz="1150" dirty="0"/>
          </a:p>
          <a:p>
            <a:pPr algn="ctr" indent="0" marL="0">
              <a:lnSpc>
                <a:spcPts val="1700"/>
              </a:lnSpc>
              <a:buNone/>
            </a:pPr>
            <a:endParaRPr lang="en-US" sz="115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B9B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messy file system</a:t>
            </a:r>
            <a:endParaRPr lang="en-US" sz="1150" dirty="0"/>
          </a:p>
          <a:p>
            <a:pPr algn="ctr" indent="0" marL="0">
              <a:lnSpc>
                <a:spcPts val="1700"/>
              </a:lnSpc>
              <a:buNone/>
            </a:pPr>
            <a:endParaRPr lang="en-US" sz="115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B9B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aging laptop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9052560" y="237744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clinician’s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052560" y="3291840"/>
            <a:ext cx="21031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B9B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Signed notes</a:t>
            </a:r>
            <a:endParaRPr lang="en-US" sz="1150" dirty="0"/>
          </a:p>
          <a:p>
            <a:pPr algn="ctr" indent="0" marL="0">
              <a:lnSpc>
                <a:spcPts val="1700"/>
              </a:lnSpc>
              <a:buNone/>
            </a:pPr>
            <a:endParaRPr lang="en-US" sz="115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B9B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Shareable, safe records</a:t>
            </a:r>
            <a:endParaRPr lang="en-US" sz="1150" dirty="0"/>
          </a:p>
          <a:p>
            <a:pPr algn="ctr" indent="0" marL="0">
              <a:lnSpc>
                <a:spcPts val="1700"/>
              </a:lnSpc>
              <a:buNone/>
            </a:pPr>
            <a:endParaRPr lang="en-US" sz="115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B9B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protected machine</a:t>
            </a:r>
            <a:endParaRPr lang="en-US" sz="1150" dirty="0"/>
          </a:p>
          <a:p>
            <a:pPr algn="ctr" indent="0" marL="0">
              <a:lnSpc>
                <a:spcPts val="1700"/>
              </a:lnSpc>
              <a:buNone/>
            </a:pPr>
            <a:endParaRPr lang="en-US" sz="115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B9B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Findable files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246120" y="3840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412480" y="3840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3977640" y="2697480"/>
            <a:ext cx="4206240" cy="3063240"/>
          </a:xfrm>
          <a:prstGeom prst="roundRect">
            <a:avLst>
              <a:gd name="adj" fmla="val 2985"/>
            </a:avLst>
          </a:prstGeom>
          <a:solidFill>
            <a:srgbClr val="17171C"/>
          </a:solidFill>
          <a:ln w="19050">
            <a:solidFill>
              <a:srgbClr val="2FC49E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3977640" y="285292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FC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OBSCURA ENGINE  ·  ON-DEVICE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297680" y="3291840"/>
            <a:ext cx="1737360" cy="1024128"/>
          </a:xfrm>
          <a:prstGeom prst="roundRect">
            <a:avLst>
              <a:gd name="adj" fmla="val 5357"/>
            </a:avLst>
          </a:prstGeom>
          <a:solidFill>
            <a:srgbClr val="101014"/>
          </a:solidFill>
          <a:ln w="12700">
            <a:solidFill>
              <a:srgbClr val="3232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97680" y="340156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343400" y="374904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9B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rules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26480" y="3291840"/>
            <a:ext cx="1737360" cy="1024128"/>
          </a:xfrm>
          <a:prstGeom prst="roundRect">
            <a:avLst>
              <a:gd name="adj" fmla="val 5357"/>
            </a:avLst>
          </a:prstGeom>
          <a:solidFill>
            <a:srgbClr val="0E2A22"/>
          </a:solidFill>
          <a:ln w="19050">
            <a:solidFill>
              <a:srgbClr val="2FC49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26480" y="340156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FC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GEMMA 4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172200" y="374904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9B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reads · reasons · classifies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297680" y="4462272"/>
            <a:ext cx="1737360" cy="1024128"/>
          </a:xfrm>
          <a:prstGeom prst="roundRect">
            <a:avLst>
              <a:gd name="adj" fmla="val 5357"/>
            </a:avLst>
          </a:prstGeom>
          <a:solidFill>
            <a:srgbClr val="101014"/>
          </a:solidFill>
          <a:ln w="12700">
            <a:solidFill>
              <a:srgbClr val="32323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97680" y="45720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343400" y="4919472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9B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human clicks — always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126480" y="4462272"/>
            <a:ext cx="1737360" cy="1024128"/>
          </a:xfrm>
          <a:prstGeom prst="roundRect">
            <a:avLst>
              <a:gd name="adj" fmla="val 5357"/>
            </a:avLst>
          </a:prstGeom>
          <a:solidFill>
            <a:srgbClr val="101014"/>
          </a:solidFill>
          <a:ln w="12700">
            <a:solidFill>
              <a:srgbClr val="32323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26480" y="45720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172200" y="4919472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9B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attacks its own output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977640" y="577900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C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Network egress: 0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02920" y="65105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9B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content herein describes a working prototype built at the GDG “Build &amp; Hack with Gemma 4.0” sprint. All demo data synthetic — no real PHI. © Obscura contributors, Apache-2.0.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01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182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┌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228600" y="6309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2920" y="306324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555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Obscura →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760720" y="3063240"/>
            <a:ext cx="5852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engine.</a:t>
            </a:r>
            <a:endParaRPr lang="en-US" sz="2600" dirty="0"/>
          </a:p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surfaces.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9509760" y="64008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5555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-+++++-+-++++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0" y="320040"/>
            <a:ext cx="868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OBSCURA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01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OBSCURA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2651760" y="438912"/>
            <a:ext cx="118872" cy="118872"/>
          </a:xfrm>
          <a:prstGeom prst="ellipse">
            <a:avLst/>
          </a:prstGeom>
          <a:ln w="9525">
            <a:solidFill>
              <a:srgbClr val="8C8C8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907792" y="438912"/>
            <a:ext cx="118872" cy="118872"/>
          </a:xfrm>
          <a:prstGeom prst="ellipse">
            <a:avLst/>
          </a:prstGeom>
          <a:ln w="9525">
            <a:solidFill>
              <a:srgbClr val="8C8C8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163824" y="438912"/>
            <a:ext cx="118872" cy="118872"/>
          </a:xfrm>
          <a:prstGeom prst="ellipse">
            <a:avLst/>
          </a:prstGeom>
          <a:solidFill>
            <a:srgbClr val="FFFFFF"/>
          </a:solidFill>
          <a:ln w="9525">
            <a:solidFill>
              <a:srgbClr val="8C8C8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19856" y="438912"/>
            <a:ext cx="118872" cy="118872"/>
          </a:xfrm>
          <a:prstGeom prst="ellipse">
            <a:avLst/>
          </a:prstGeom>
          <a:ln w="9525">
            <a:solidFill>
              <a:srgbClr val="8C8C8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75888" y="438912"/>
            <a:ext cx="118872" cy="118872"/>
          </a:xfrm>
          <a:prstGeom prst="ellipse">
            <a:avLst/>
          </a:prstGeom>
          <a:ln w="9525">
            <a:solidFill>
              <a:srgbClr val="8C8C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69080" y="3474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9B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Engine, Four Surfaces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85800" y="139903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C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417320" y="123444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Transcribe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4389120" y="1280160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visit writes itself.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389120" y="1636776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on-device speech → SOAP draft → clinician signs · no BAA because no third party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378440" y="139903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spc="100" kern="0" dirty="0">
                <a:solidFill>
                  <a:srgbClr val="8C8C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DESIGN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85800" y="2167128"/>
            <a:ext cx="10972800" cy="10973"/>
          </a:xfrm>
          <a:prstGeom prst="rect">
            <a:avLst/>
          </a:prstGeom>
          <a:solidFill>
            <a:srgbClr val="2A2A32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246888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C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17320" y="2304288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Redact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4389120" y="2350008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the record, not the patient.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389120" y="2706624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18 HIPAA Safe Harbor identifier categories · destroys pixels, never covers text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378440" y="246888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spc="100" kern="0" dirty="0">
                <a:solidFill>
                  <a:srgbClr val="2FC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SHIPPED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85800" y="3236976"/>
            <a:ext cx="10972800" cy="10973"/>
          </a:xfrm>
          <a:prstGeom prst="rect">
            <a:avLst/>
          </a:prstGeom>
          <a:solidFill>
            <a:srgbClr val="2A2A32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538728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C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417320" y="3374136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</a:t>
            </a:r>
            <a:endParaRPr lang="en-US" sz="2700" dirty="0"/>
          </a:p>
        </p:txBody>
      </p:sp>
      <p:sp>
        <p:nvSpPr>
          <p:cNvPr id="23" name="Text 21"/>
          <p:cNvSpPr/>
          <p:nvPr/>
        </p:nvSpPr>
        <p:spPr>
          <a:xfrm>
            <a:off x="4389120" y="3419856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$0 IT department.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389120" y="377647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CIS Level 1 checks · plaintext-secret scan · Safety Score · read-only, never executes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378440" y="353872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spc="100" kern="0" dirty="0">
                <a:solidFill>
                  <a:srgbClr val="2FC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SHIPPED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85800" y="4306824"/>
            <a:ext cx="10972800" cy="10973"/>
          </a:xfrm>
          <a:prstGeom prst="rect">
            <a:avLst/>
          </a:prstGeom>
          <a:solidFill>
            <a:srgbClr val="2A2A32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" y="4608576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C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417320" y="4443984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Organize</a:t>
            </a:r>
            <a:endParaRPr lang="en-US" sz="2700" dirty="0"/>
          </a:p>
        </p:txBody>
      </p:sp>
      <p:sp>
        <p:nvSpPr>
          <p:cNvPr id="29" name="Text 27"/>
          <p:cNvSpPr/>
          <p:nvPr/>
        </p:nvSpPr>
        <p:spPr>
          <a:xfrm>
            <a:off x="4389120" y="4489704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Files that name themselves.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4389120" y="4846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Gemma reads page one · template-enforced names · crash-safe journal · one-click Undo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0378440" y="4608576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spc="100" kern="0" dirty="0">
                <a:solidFill>
                  <a:srgbClr val="2FC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SHIPPED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85800" y="5376672"/>
            <a:ext cx="10972800" cy="10973"/>
          </a:xfrm>
          <a:prstGeom prst="rect">
            <a:avLst/>
          </a:prstGeom>
          <a:solidFill>
            <a:srgbClr val="2A2A32"/>
          </a:solidFill>
          <a:ln/>
        </p:spPr>
      </p:sp>
      <p:sp>
        <p:nvSpPr>
          <p:cNvPr id="33" name="Text 31"/>
          <p:cNvSpPr/>
          <p:nvPr/>
        </p:nvSpPr>
        <p:spPr>
          <a:xfrm>
            <a:off x="685800" y="5715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9B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surfaces feed each other: SECURE finds a plaintext key → REDACT destroys it → ORGANIZE files the result.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02920" y="65105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5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content herein describes a working prototype built at the GDG “Build &amp; Hack with Gemma 4.0” sprint. All demo data synthetic — no real PHI. © Obscura contributors, Apache-2.0.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01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OBSCURA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2651760" y="438912"/>
            <a:ext cx="118872" cy="118872"/>
          </a:xfrm>
          <a:prstGeom prst="ellipse">
            <a:avLst/>
          </a:prstGeom>
          <a:ln w="9525">
            <a:solidFill>
              <a:srgbClr val="8C8C8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907792" y="438912"/>
            <a:ext cx="118872" cy="118872"/>
          </a:xfrm>
          <a:prstGeom prst="ellipse">
            <a:avLst/>
          </a:prstGeom>
          <a:ln w="9525">
            <a:solidFill>
              <a:srgbClr val="8C8C8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163824" y="438912"/>
            <a:ext cx="118872" cy="118872"/>
          </a:xfrm>
          <a:prstGeom prst="ellipse">
            <a:avLst/>
          </a:prstGeom>
          <a:solidFill>
            <a:srgbClr val="FFFFFF"/>
          </a:solidFill>
          <a:ln w="9525">
            <a:solidFill>
              <a:srgbClr val="8C8C8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19856" y="438912"/>
            <a:ext cx="118872" cy="118872"/>
          </a:xfrm>
          <a:prstGeom prst="ellipse">
            <a:avLst/>
          </a:prstGeom>
          <a:ln w="9525">
            <a:solidFill>
              <a:srgbClr val="8C8C8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75888" y="438912"/>
            <a:ext cx="118872" cy="118872"/>
          </a:xfrm>
          <a:prstGeom prst="ellipse">
            <a:avLst/>
          </a:prstGeom>
          <a:ln w="9525">
            <a:solidFill>
              <a:srgbClr val="8C8C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69080" y="3474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9B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Engine, Four Surfaces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868680"/>
            <a:ext cx="11155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One local </a:t>
            </a:r>
            <a:pPr indent="0" marL="0">
              <a:buNone/>
            </a:pPr>
            <a:r>
              <a:rPr lang="en-US" sz="2200" dirty="0">
                <a:solidFill>
                  <a:srgbClr val="2FC49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Gemma 4</a:t>
            </a:r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model powers every surface — </a:t>
            </a:r>
            <a:pPr indent="0" marL="0">
              <a:buNone/>
            </a:pPr>
            <a:r>
              <a:rPr lang="en-US" sz="2200" dirty="0">
                <a:solidFill>
                  <a:srgbClr val="2FC49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before, during, and after</a:t>
            </a:r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each patient touchpoint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02920" y="1783080"/>
            <a:ext cx="11183112" cy="12802"/>
          </a:xfrm>
          <a:prstGeom prst="rect">
            <a:avLst/>
          </a:prstGeom>
          <a:solidFill>
            <a:srgbClr val="2A2A32"/>
          </a:solidFill>
          <a:ln/>
        </p:spPr>
      </p:sp>
      <p:sp>
        <p:nvSpPr>
          <p:cNvPr id="11" name="Shape 9"/>
          <p:cNvSpPr/>
          <p:nvPr/>
        </p:nvSpPr>
        <p:spPr>
          <a:xfrm>
            <a:off x="4837176" y="324612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0E2A22"/>
          </a:solidFill>
          <a:ln w="25400">
            <a:solidFill>
              <a:srgbClr val="2FC49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37176" y="3401568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spc="200" kern="0" dirty="0">
                <a:solidFill>
                  <a:srgbClr val="2FC49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GEMMA 4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837176" y="384048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B9B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· vision · reasoning</a:t>
            </a:r>
            <a:endParaRPr lang="en-US" sz="9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B9B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Ollama gateway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77240" y="2286000"/>
            <a:ext cx="2926080" cy="1298448"/>
          </a:xfrm>
          <a:prstGeom prst="roundRect">
            <a:avLst>
              <a:gd name="adj" fmla="val 5634"/>
            </a:avLst>
          </a:prstGeom>
          <a:solidFill>
            <a:srgbClr val="17171C"/>
          </a:solidFill>
          <a:ln w="12700">
            <a:solidFill>
              <a:srgbClr val="3232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239572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 TRANSCRIBE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60120" y="274320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B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 audio → structured SOAP draft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60120" y="315468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FC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third party — no BAA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77240" y="4315968"/>
            <a:ext cx="2926080" cy="1298448"/>
          </a:xfrm>
          <a:prstGeom prst="roundRect">
            <a:avLst>
              <a:gd name="adj" fmla="val 5634"/>
            </a:avLst>
          </a:prstGeom>
          <a:solidFill>
            <a:srgbClr val="17171C"/>
          </a:solidFill>
          <a:ln w="12700">
            <a:solidFill>
              <a:srgbClr val="3232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" y="4425696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 SECURE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60120" y="4773168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B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explains findings in plain English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60120" y="5184648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FC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CIS L1 checks · Safety Score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485632" y="2286000"/>
            <a:ext cx="2926080" cy="1298448"/>
          </a:xfrm>
          <a:prstGeom prst="roundRect">
            <a:avLst>
              <a:gd name="adj" fmla="val 5634"/>
            </a:avLst>
          </a:prstGeom>
          <a:solidFill>
            <a:srgbClr val="17171C"/>
          </a:solidFill>
          <a:ln w="12700">
            <a:solidFill>
              <a:srgbClr val="3232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68512" y="239572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 REDACT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668512" y="274320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B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finds meaning; OCR pins the pixels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668512" y="315468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FC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Safe Harbor identifier types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8485632" y="4315968"/>
            <a:ext cx="2926080" cy="1298448"/>
          </a:xfrm>
          <a:prstGeom prst="roundRect">
            <a:avLst>
              <a:gd name="adj" fmla="val 5634"/>
            </a:avLst>
          </a:prstGeom>
          <a:solidFill>
            <a:srgbClr val="17171C"/>
          </a:solidFill>
          <a:ln w="12700">
            <a:solidFill>
              <a:srgbClr val="32323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68512" y="4425696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 ORGANIZE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668512" y="4773168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B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reads page one → doc-type · entity · date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668512" y="5184648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FC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enforces names · Undo journal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703320" y="3063240"/>
            <a:ext cx="1133856" cy="777240"/>
          </a:xfrm>
          <a:prstGeom prst="line">
            <a:avLst/>
          </a:prstGeom>
          <a:noFill/>
          <a:ln w="15875">
            <a:solidFill>
              <a:srgbClr val="3A5A5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703320" y="5074920"/>
            <a:ext cx="1133856" cy="-548640"/>
          </a:xfrm>
          <a:prstGeom prst="line">
            <a:avLst/>
          </a:prstGeom>
          <a:noFill/>
          <a:ln w="15875">
            <a:solidFill>
              <a:srgbClr val="3A5A5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351776" y="3840480"/>
            <a:ext cx="1133856" cy="-777240"/>
          </a:xfrm>
          <a:prstGeom prst="line">
            <a:avLst/>
          </a:prstGeom>
          <a:noFill/>
          <a:ln w="15875">
            <a:solidFill>
              <a:srgbClr val="3A5A5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351776" y="4160520"/>
            <a:ext cx="1133856" cy="914400"/>
          </a:xfrm>
          <a:prstGeom prst="line">
            <a:avLst/>
          </a:prstGeom>
          <a:noFill/>
          <a:ln w="15875">
            <a:solidFill>
              <a:srgbClr val="3A5A5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194560" y="5833872"/>
            <a:ext cx="7772400" cy="530352"/>
          </a:xfrm>
          <a:prstGeom prst="roundRect">
            <a:avLst>
              <a:gd name="adj" fmla="val 50000"/>
            </a:avLst>
          </a:prstGeom>
          <a:solidFill>
            <a:srgbClr val="17171C"/>
          </a:solidFill>
          <a:ln w="12700">
            <a:solidFill>
              <a:srgbClr val="32323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468880" y="5870448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9B9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SHARED SPINE /  structured-JSON output · retry + repair loop · serialized GPU queue · hardware probe picks E4B or 12B · runs on an 8 GB laptop, Wi-Fi off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02920" y="65105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5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content herein describes a working prototype built at the GDG “Build &amp; Hack with Gemma 4.0” sprint. All demo data synthetic — no real PHI. © Obscura contributors, Apache-2.0.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01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182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┌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228600" y="6309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2920" y="306324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555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Obscura →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760720" y="3063240"/>
            <a:ext cx="5852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Obscura in Action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9509760" y="64008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5555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-+++++-+-++++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0" y="320040"/>
            <a:ext cx="868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OBSCURA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2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OBSCURA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2651760" y="438912"/>
            <a:ext cx="118872" cy="118872"/>
          </a:xfrm>
          <a:prstGeom prst="ellipse">
            <a:avLst/>
          </a:prstGeom>
          <a:ln w="9525">
            <a:solidFill>
              <a:srgbClr val="8C8C8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907792" y="438912"/>
            <a:ext cx="118872" cy="118872"/>
          </a:xfrm>
          <a:prstGeom prst="ellipse">
            <a:avLst/>
          </a:prstGeom>
          <a:ln w="9525">
            <a:solidFill>
              <a:srgbClr val="8C8C8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163824" y="438912"/>
            <a:ext cx="118872" cy="118872"/>
          </a:xfrm>
          <a:prstGeom prst="ellipse">
            <a:avLst/>
          </a:prstGeom>
          <a:ln w="9525">
            <a:solidFill>
              <a:srgbClr val="8C8C8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19856" y="438912"/>
            <a:ext cx="118872" cy="118872"/>
          </a:xfrm>
          <a:prstGeom prst="ellipse">
            <a:avLst/>
          </a:prstGeom>
          <a:solidFill>
            <a:srgbClr val="141414"/>
          </a:solidFill>
          <a:ln w="9525">
            <a:solidFill>
              <a:srgbClr val="8C8C8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75888" y="438912"/>
            <a:ext cx="118872" cy="118872"/>
          </a:xfrm>
          <a:prstGeom prst="ellipse">
            <a:avLst/>
          </a:prstGeom>
          <a:ln w="9525">
            <a:solidFill>
              <a:srgbClr val="8C8C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69080" y="3474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Obscura in Action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8686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in one day. </a:t>
            </a:r>
            <a:pPr indent="0" marL="0">
              <a:buNone/>
            </a:pPr>
            <a:r>
              <a:rPr lang="en-US" sz="2600" b="1" u="sng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before it was demoed</a:t>
            </a:r>
            <a:pPr indent="0" marL="0">
              <a:buNone/>
            </a:pPr>
            <a:r>
              <a:rPr lang="en-US" sz="26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502920" y="1783080"/>
            <a:ext cx="6309360" cy="10973"/>
          </a:xfrm>
          <a:prstGeom prst="rect">
            <a:avLst/>
          </a:prstGeom>
          <a:solidFill>
            <a:srgbClr val="B9B9B4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874520"/>
            <a:ext cx="1325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C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965960" y="1911096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recoverable characters after redaction — select-all, text-search, re-OCR, metadata audit all pass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2816352"/>
            <a:ext cx="6309360" cy="10973"/>
          </a:xfrm>
          <a:prstGeom prst="rect">
            <a:avLst/>
          </a:prstGeom>
          <a:solidFill>
            <a:srgbClr val="B9B9B4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2907792"/>
            <a:ext cx="1325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C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16/18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965960" y="2944368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HIPAA Safe Harbor identifier categories flagged on a synthetic patient record, live coverage panel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3849624"/>
            <a:ext cx="6309360" cy="10973"/>
          </a:xfrm>
          <a:prstGeom prst="rect">
            <a:avLst/>
          </a:prstGeom>
          <a:solidFill>
            <a:srgbClr val="B9B9B4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3941064"/>
            <a:ext cx="1325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C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1965960" y="3977640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checks the tool runs against its own output on every single export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4882896"/>
            <a:ext cx="6309360" cy="10973"/>
          </a:xfrm>
          <a:prstGeom prst="rect">
            <a:avLst/>
          </a:prstGeom>
          <a:solidFill>
            <a:srgbClr val="B9B9B4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4974336"/>
            <a:ext cx="1325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C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GB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1965960" y="5010912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laptop GPU is enough — a hardware probe picks the right Gemma 4 variant per machine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269480" y="178308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C8C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VERIFICATION INDEX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269480" y="2148840"/>
            <a:ext cx="4389120" cy="10973"/>
          </a:xfrm>
          <a:prstGeom prst="rect">
            <a:avLst/>
          </a:prstGeom>
          <a:solidFill>
            <a:srgbClr val="B9B9B4"/>
          </a:solidFill>
          <a:ln/>
        </p:spPr>
      </p:sp>
      <p:sp>
        <p:nvSpPr>
          <p:cNvPr id="24" name="Text 22"/>
          <p:cNvSpPr/>
          <p:nvPr/>
        </p:nvSpPr>
        <p:spPr>
          <a:xfrm>
            <a:off x="7269480" y="2203704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01/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726680" y="2203704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SELECT-ALL TEST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9464040" y="2203704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selectable characters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11155680" y="2221992"/>
            <a:ext cx="502920" cy="237744"/>
          </a:xfrm>
          <a:prstGeom prst="roundRect">
            <a:avLst>
              <a:gd name="adj" fmla="val 50000"/>
            </a:avLst>
          </a:prstGeom>
          <a:solidFill>
            <a:srgbClr val="DDEDE6"/>
          </a:solidFill>
          <a:ln/>
        </p:spPr>
      </p:sp>
      <p:sp>
        <p:nvSpPr>
          <p:cNvPr id="28" name="Text 26"/>
          <p:cNvSpPr/>
          <p:nvPr/>
        </p:nvSpPr>
        <p:spPr>
          <a:xfrm>
            <a:off x="11155680" y="2203704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7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7269480" y="2807208"/>
            <a:ext cx="4389120" cy="10973"/>
          </a:xfrm>
          <a:prstGeom prst="rect">
            <a:avLst/>
          </a:prstGeom>
          <a:solidFill>
            <a:srgbClr val="B9B9B4"/>
          </a:solidFill>
          <a:ln/>
        </p:spPr>
      </p:sp>
      <p:sp>
        <p:nvSpPr>
          <p:cNvPr id="30" name="Text 28"/>
          <p:cNvSpPr/>
          <p:nvPr/>
        </p:nvSpPr>
        <p:spPr>
          <a:xfrm>
            <a:off x="7269480" y="286207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02/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726680" y="2862072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TEXT-SEARCH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9464040" y="2862072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redacted string findable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11155680" y="2880360"/>
            <a:ext cx="502920" cy="237744"/>
          </a:xfrm>
          <a:prstGeom prst="roundRect">
            <a:avLst>
              <a:gd name="adj" fmla="val 50000"/>
            </a:avLst>
          </a:prstGeom>
          <a:solidFill>
            <a:srgbClr val="DDEDE6"/>
          </a:solidFill>
          <a:ln/>
        </p:spPr>
      </p:sp>
      <p:sp>
        <p:nvSpPr>
          <p:cNvPr id="34" name="Text 32"/>
          <p:cNvSpPr/>
          <p:nvPr/>
        </p:nvSpPr>
        <p:spPr>
          <a:xfrm>
            <a:off x="11155680" y="286207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7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7269480" y="3465576"/>
            <a:ext cx="4389120" cy="10973"/>
          </a:xfrm>
          <a:prstGeom prst="rect">
            <a:avLst/>
          </a:prstGeom>
          <a:solidFill>
            <a:srgbClr val="B9B9B4"/>
          </a:solidFill>
          <a:ln/>
        </p:spPr>
      </p:sp>
      <p:sp>
        <p:nvSpPr>
          <p:cNvPr id="36" name="Text 34"/>
          <p:cNvSpPr/>
          <p:nvPr/>
        </p:nvSpPr>
        <p:spPr>
          <a:xfrm>
            <a:off x="7269480" y="35204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03/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726680" y="35204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RE-OCR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9464040" y="352044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readable survives in pixels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11155680" y="3538728"/>
            <a:ext cx="502920" cy="237744"/>
          </a:xfrm>
          <a:prstGeom prst="roundRect">
            <a:avLst>
              <a:gd name="adj" fmla="val 50000"/>
            </a:avLst>
          </a:prstGeom>
          <a:solidFill>
            <a:srgbClr val="DDEDE6"/>
          </a:solidFill>
          <a:ln/>
        </p:spPr>
      </p:sp>
      <p:sp>
        <p:nvSpPr>
          <p:cNvPr id="40" name="Text 38"/>
          <p:cNvSpPr/>
          <p:nvPr/>
        </p:nvSpPr>
        <p:spPr>
          <a:xfrm>
            <a:off x="11155680" y="352044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7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7269480" y="4123944"/>
            <a:ext cx="4389120" cy="10973"/>
          </a:xfrm>
          <a:prstGeom prst="rect">
            <a:avLst/>
          </a:prstGeom>
          <a:solidFill>
            <a:srgbClr val="B9B9B4"/>
          </a:solidFill>
          <a:ln/>
        </p:spPr>
      </p:sp>
      <p:sp>
        <p:nvSpPr>
          <p:cNvPr id="42" name="Text 40"/>
          <p:cNvSpPr/>
          <p:nvPr/>
        </p:nvSpPr>
        <p:spPr>
          <a:xfrm>
            <a:off x="7269480" y="417880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04/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726680" y="417880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METADATA AUDIT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9464040" y="4178808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dictionary empty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11155680" y="4197096"/>
            <a:ext cx="502920" cy="237744"/>
          </a:xfrm>
          <a:prstGeom prst="roundRect">
            <a:avLst>
              <a:gd name="adj" fmla="val 50000"/>
            </a:avLst>
          </a:prstGeom>
          <a:solidFill>
            <a:srgbClr val="DDEDE6"/>
          </a:solidFill>
          <a:ln/>
        </p:spPr>
      </p:sp>
      <p:sp>
        <p:nvSpPr>
          <p:cNvPr id="46" name="Text 44"/>
          <p:cNvSpPr/>
          <p:nvPr/>
        </p:nvSpPr>
        <p:spPr>
          <a:xfrm>
            <a:off x="11155680" y="4178808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7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7269480" y="4782312"/>
            <a:ext cx="4389120" cy="10973"/>
          </a:xfrm>
          <a:prstGeom prst="rect">
            <a:avLst/>
          </a:prstGeom>
          <a:solidFill>
            <a:srgbClr val="B9B9B4"/>
          </a:solidFill>
          <a:ln/>
        </p:spPr>
      </p:sp>
      <p:sp>
        <p:nvSpPr>
          <p:cNvPr id="48" name="Text 46"/>
          <p:cNvSpPr/>
          <p:nvPr/>
        </p:nvSpPr>
        <p:spPr>
          <a:xfrm>
            <a:off x="7269480" y="4837176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05/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7726680" y="4837176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EGRESS PANEL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9464040" y="4837176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connections: zero, live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11155680" y="4855464"/>
            <a:ext cx="502920" cy="237744"/>
          </a:xfrm>
          <a:prstGeom prst="roundRect">
            <a:avLst>
              <a:gd name="adj" fmla="val 50000"/>
            </a:avLst>
          </a:prstGeom>
          <a:solidFill>
            <a:srgbClr val="DDEDE6"/>
          </a:solidFill>
          <a:ln/>
        </p:spPr>
      </p:sp>
      <p:sp>
        <p:nvSpPr>
          <p:cNvPr id="52" name="Text 50"/>
          <p:cNvSpPr/>
          <p:nvPr/>
        </p:nvSpPr>
        <p:spPr>
          <a:xfrm>
            <a:off x="11155680" y="483717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7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7269480" y="5440680"/>
            <a:ext cx="4389120" cy="10973"/>
          </a:xfrm>
          <a:prstGeom prst="rect">
            <a:avLst/>
          </a:prstGeom>
          <a:solidFill>
            <a:srgbClr val="B9B9B4"/>
          </a:solidFill>
          <a:ln/>
        </p:spPr>
      </p:sp>
      <p:sp>
        <p:nvSpPr>
          <p:cNvPr id="54" name="Text 52"/>
          <p:cNvSpPr/>
          <p:nvPr/>
        </p:nvSpPr>
        <p:spPr>
          <a:xfrm>
            <a:off x="7269480" y="5495544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06/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7726680" y="5495544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UNDO REPLAY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9464040" y="5495544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reorganization reversed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11155680" y="5513832"/>
            <a:ext cx="502920" cy="237744"/>
          </a:xfrm>
          <a:prstGeom prst="roundRect">
            <a:avLst>
              <a:gd name="adj" fmla="val 50000"/>
            </a:avLst>
          </a:prstGeom>
          <a:solidFill>
            <a:srgbClr val="DDEDE6"/>
          </a:solidFill>
          <a:ln/>
        </p:spPr>
      </p:sp>
      <p:sp>
        <p:nvSpPr>
          <p:cNvPr id="58" name="Text 56"/>
          <p:cNvSpPr/>
          <p:nvPr/>
        </p:nvSpPr>
        <p:spPr>
          <a:xfrm>
            <a:off x="11155680" y="5495544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7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502920" y="65105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9B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content herein describes a working prototype built at the GDG “Build &amp; Hack with Gemma 4.0” sprint. All demo data synthetic — no real PHI. © Obscura contributors, Apache-2.0.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2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OBSCURA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2651760" y="438912"/>
            <a:ext cx="118872" cy="118872"/>
          </a:xfrm>
          <a:prstGeom prst="ellipse">
            <a:avLst/>
          </a:prstGeom>
          <a:ln w="9525">
            <a:solidFill>
              <a:srgbClr val="8C8C8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907792" y="438912"/>
            <a:ext cx="118872" cy="118872"/>
          </a:xfrm>
          <a:prstGeom prst="ellipse">
            <a:avLst/>
          </a:prstGeom>
          <a:ln w="9525">
            <a:solidFill>
              <a:srgbClr val="8C8C8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163824" y="438912"/>
            <a:ext cx="118872" cy="118872"/>
          </a:xfrm>
          <a:prstGeom prst="ellipse">
            <a:avLst/>
          </a:prstGeom>
          <a:ln w="9525">
            <a:solidFill>
              <a:srgbClr val="8C8C8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19856" y="438912"/>
            <a:ext cx="118872" cy="118872"/>
          </a:xfrm>
          <a:prstGeom prst="ellipse">
            <a:avLst/>
          </a:prstGeom>
          <a:solidFill>
            <a:srgbClr val="141414"/>
          </a:solidFill>
          <a:ln w="9525">
            <a:solidFill>
              <a:srgbClr val="8C8C8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75888" y="438912"/>
            <a:ext cx="118872" cy="118872"/>
          </a:xfrm>
          <a:prstGeom prst="ellipse">
            <a:avLst/>
          </a:prstGeom>
          <a:ln w="9525">
            <a:solidFill>
              <a:srgbClr val="8C8C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69080" y="3474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Obscura in Action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868680"/>
            <a:ext cx="11155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market charges </a:t>
            </a:r>
            <a:pPr indent="0" marL="0">
              <a:buNone/>
            </a:pPr>
            <a:r>
              <a:rPr lang="en-US" sz="2500" b="1" u="sng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$15,000+ a year</a:t>
            </a:r>
            <a:pPr indent="0" marL="0">
              <a:buNone/>
            </a:pPr>
            <a:r>
              <a:rPr lang="en-US" sz="2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what a two-provider clinic gets here at $0.</a:t>
            </a:r>
            <a:endParaRPr lang="en-US" sz="2500" dirty="0"/>
          </a:p>
        </p:txBody>
      </p:sp>
      <p:sp>
        <p:nvSpPr>
          <p:cNvPr id="10" name="Shape 8"/>
          <p:cNvSpPr/>
          <p:nvPr/>
        </p:nvSpPr>
        <p:spPr>
          <a:xfrm>
            <a:off x="502920" y="2148840"/>
            <a:ext cx="11183112" cy="10973"/>
          </a:xfrm>
          <a:prstGeom prst="rect">
            <a:avLst/>
          </a:prstGeom>
          <a:solidFill>
            <a:srgbClr val="B9B9B4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25856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C8C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SCRIBE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017520" y="2203704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$299–$1,512 / clinician / mo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035040" y="2240280"/>
            <a:ext cx="5577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Suki · Nuance DAX Copilot (list $1,512; typical $369–830 + $5k–50k setup) · budget tier Freed $79–119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02920" y="3063240"/>
            <a:ext cx="11183112" cy="10973"/>
          </a:xfrm>
          <a:prstGeom prst="rect">
            <a:avLst/>
          </a:prstGeom>
          <a:solidFill>
            <a:srgbClr val="B9B9B4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317296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C8C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REDACTION SUITE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017520" y="3118104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$279–$379 / user / mo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035040" y="3154680"/>
            <a:ext cx="5577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CaseGuard Doc &amp; Ultimate suites · budget tier Redactable from $278/yr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02920" y="3977640"/>
            <a:ext cx="11183112" cy="10973"/>
          </a:xfrm>
          <a:prstGeom prst="rect">
            <a:avLst/>
          </a:prstGeom>
          <a:solidFill>
            <a:srgbClr val="B9B9B4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408736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C8C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MANAGED IT + HIPAA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017520" y="4032504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$100–$250 / user / mo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035040" y="4069080"/>
            <a:ext cx="5577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small-practice HIPAA-ready MSP plans · HIPAA support adds $15–30/user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02920" y="4892040"/>
            <a:ext cx="11183112" cy="10973"/>
          </a:xfrm>
          <a:prstGeom prst="rect">
            <a:avLst/>
          </a:prstGeom>
          <a:solidFill>
            <a:srgbClr val="2FC49E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500176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E7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OBSCURA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017520" y="4946904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 · forever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035040" y="4983480"/>
            <a:ext cx="5577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Apache-2.0, on hardware the clinic already owns — in a $1.2–2.8B market headed to ~$15B by 2034–35, all cloud, none priced for small practices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02920" y="5989320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Pricing: vendor list / published reseller pages + 2026 pricing guides; market size: Dataintelo, Astute Analytica, SNS Insider, Grand View 2025–26. List prices — verify per quote.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02920" y="65105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9B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content herein describes a working prototype built at the GDG “Build &amp; Hack with Gemma 4.0” sprint. All demo data synthetic — no real PHI. © Obscura contributors, Apache-2.0.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01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182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┌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228600" y="6309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2920" y="306324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555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Obscura →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760720" y="3063240"/>
            <a:ext cx="5852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Getting Started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9509760" y="64008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5555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-+++++-+-++++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0" y="320040"/>
            <a:ext cx="868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OBSCURA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2F2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OBSCURA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2651760" y="438912"/>
            <a:ext cx="118872" cy="118872"/>
          </a:xfrm>
          <a:prstGeom prst="ellipse">
            <a:avLst/>
          </a:prstGeom>
          <a:ln w="9525">
            <a:solidFill>
              <a:srgbClr val="8C8C8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907792" y="438912"/>
            <a:ext cx="118872" cy="118872"/>
          </a:xfrm>
          <a:prstGeom prst="ellipse">
            <a:avLst/>
          </a:prstGeom>
          <a:ln w="9525">
            <a:solidFill>
              <a:srgbClr val="8C8C8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163824" y="438912"/>
            <a:ext cx="118872" cy="118872"/>
          </a:xfrm>
          <a:prstGeom prst="ellipse">
            <a:avLst/>
          </a:prstGeom>
          <a:ln w="9525">
            <a:solidFill>
              <a:srgbClr val="8C8C8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19856" y="438912"/>
            <a:ext cx="118872" cy="118872"/>
          </a:xfrm>
          <a:prstGeom prst="ellipse">
            <a:avLst/>
          </a:prstGeom>
          <a:ln w="9525">
            <a:solidFill>
              <a:srgbClr val="8C8C8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75888" y="438912"/>
            <a:ext cx="118872" cy="118872"/>
          </a:xfrm>
          <a:prstGeom prst="ellipse">
            <a:avLst/>
          </a:prstGeom>
          <a:solidFill>
            <a:srgbClr val="141414"/>
          </a:solidFill>
          <a:ln w="9525">
            <a:solidFill>
              <a:srgbClr val="8C8C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69080" y="3474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Getting Started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960120"/>
            <a:ext cx="6035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zero to private AI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one afternoon.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502920" y="2606040"/>
            <a:ext cx="5760720" cy="10973"/>
          </a:xfrm>
          <a:prstGeom prst="rect">
            <a:avLst/>
          </a:prstGeom>
          <a:solidFill>
            <a:srgbClr val="B9B9B4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688336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FC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143000" y="2670048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Ollama · pull Gemma 4 (two commands)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264408"/>
            <a:ext cx="5760720" cy="10973"/>
          </a:xfrm>
          <a:prstGeom prst="rect">
            <a:avLst/>
          </a:prstGeom>
          <a:solidFill>
            <a:srgbClr val="B9B9B4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346704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FC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143000" y="3328416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Clone the repo · pip install · run one server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3922776"/>
            <a:ext cx="5760720" cy="10973"/>
          </a:xfrm>
          <a:prstGeom prst="rect">
            <a:avLst/>
          </a:prstGeom>
          <a:solidFill>
            <a:srgbClr val="B9B9B4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400507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FC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143000" y="3986784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the Wi-Fi off — everything still works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02920" y="4581144"/>
            <a:ext cx="5760720" cy="10973"/>
          </a:xfrm>
          <a:prstGeom prst="rect">
            <a:avLst/>
          </a:prstGeom>
          <a:solidFill>
            <a:srgbClr val="B9B9B4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46634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FC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143000" y="4645152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Redact, scan, and organize with a human click on every action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02920" y="5486400"/>
            <a:ext cx="6035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ask:  pilot clinics to shape TRANSCRIBE  ·  open-source contributors  ·  EHR-integration partners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949440" y="0"/>
            <a:ext cx="5239512" cy="6858000"/>
          </a:xfrm>
          <a:prstGeom prst="rect">
            <a:avLst/>
          </a:prstGeom>
          <a:solidFill>
            <a:srgbClr val="E9E9E4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0" y="96012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four surfaces generalize —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315200" y="155448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OBSCURA FOR CLINICS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7315200" y="2011680"/>
            <a:ext cx="4343400" cy="10973"/>
          </a:xfrm>
          <a:prstGeom prst="rect">
            <a:avLst/>
          </a:prstGeom>
          <a:solidFill>
            <a:srgbClr val="CFCFC9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0" y="2121408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OBSCURA FOR LEGAL AID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7315200" y="2578608"/>
            <a:ext cx="4343400" cy="10973"/>
          </a:xfrm>
          <a:prstGeom prst="rect">
            <a:avLst/>
          </a:prstGeom>
          <a:solidFill>
            <a:srgbClr val="CFCFC9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0" y="2688336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OBSCURA FOR SOCIAL WORK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7315200" y="3145536"/>
            <a:ext cx="4343400" cy="10973"/>
          </a:xfrm>
          <a:prstGeom prst="rect">
            <a:avLst/>
          </a:prstGeom>
          <a:solidFill>
            <a:srgbClr val="CFCFC9"/>
          </a:solidFill>
          <a:ln/>
        </p:spPr>
      </p:sp>
      <p:sp>
        <p:nvSpPr>
          <p:cNvPr id="31" name="Text 29"/>
          <p:cNvSpPr/>
          <p:nvPr/>
        </p:nvSpPr>
        <p:spPr>
          <a:xfrm>
            <a:off x="7315200" y="3255264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OBSCURA FOR SCHOOLS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7315200" y="3712464"/>
            <a:ext cx="4343400" cy="10973"/>
          </a:xfrm>
          <a:prstGeom prst="rect">
            <a:avLst/>
          </a:prstGeom>
          <a:solidFill>
            <a:srgbClr val="CFCFC9"/>
          </a:solidFill>
          <a:ln/>
        </p:spPr>
      </p:sp>
      <p:sp>
        <p:nvSpPr>
          <p:cNvPr id="33" name="Text 31"/>
          <p:cNvSpPr/>
          <p:nvPr/>
        </p:nvSpPr>
        <p:spPr>
          <a:xfrm>
            <a:off x="7315200" y="3822192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OBSCURA FOR FOIA OFFICES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7315200" y="4279392"/>
            <a:ext cx="4343400" cy="10973"/>
          </a:xfrm>
          <a:prstGeom prst="rect">
            <a:avLst/>
          </a:prstGeom>
          <a:solidFill>
            <a:srgbClr val="CFCFC9"/>
          </a:solidFill>
          <a:ln/>
        </p:spPr>
      </p:sp>
      <p:sp>
        <p:nvSpPr>
          <p:cNvPr id="35" name="Text 33"/>
          <p:cNvSpPr/>
          <p:nvPr/>
        </p:nvSpPr>
        <p:spPr>
          <a:xfrm>
            <a:off x="7315200" y="438912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797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OBSCURA FOR COURTS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7315200" y="4846320"/>
            <a:ext cx="4343400" cy="10973"/>
          </a:xfrm>
          <a:prstGeom prst="rect">
            <a:avLst/>
          </a:prstGeom>
          <a:solidFill>
            <a:srgbClr val="CFCFC9"/>
          </a:solidFill>
          <a:ln/>
        </p:spPr>
      </p:sp>
      <p:sp>
        <p:nvSpPr>
          <p:cNvPr id="37" name="Text 35"/>
          <p:cNvSpPr/>
          <p:nvPr/>
        </p:nvSpPr>
        <p:spPr>
          <a:xfrm>
            <a:off x="7315200" y="4956048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FAF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OBSCURA FOR SHELTERS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7315200" y="5413248"/>
            <a:ext cx="4343400" cy="10973"/>
          </a:xfrm>
          <a:prstGeom prst="rect">
            <a:avLst/>
          </a:prstGeom>
          <a:solidFill>
            <a:srgbClr val="CFCFC9"/>
          </a:solidFill>
          <a:ln/>
        </p:spPr>
      </p:sp>
      <p:sp>
        <p:nvSpPr>
          <p:cNvPr id="39" name="Text 37"/>
          <p:cNvSpPr/>
          <p:nvPr/>
        </p:nvSpPr>
        <p:spPr>
          <a:xfrm>
            <a:off x="7315200" y="5522976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4C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OBSCURA FOR EVERYONE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7315200" y="5980176"/>
            <a:ext cx="4343400" cy="10973"/>
          </a:xfrm>
          <a:prstGeom prst="rect">
            <a:avLst/>
          </a:prstGeom>
          <a:solidFill>
            <a:srgbClr val="CFCFC9"/>
          </a:solidFill>
          <a:ln/>
        </p:spPr>
      </p:sp>
      <p:sp>
        <p:nvSpPr>
          <p:cNvPr id="41" name="Text 39"/>
          <p:cNvSpPr/>
          <p:nvPr/>
        </p:nvSpPr>
        <p:spPr>
          <a:xfrm>
            <a:off x="502920" y="65105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9B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content herein describes a working prototype built at the GDG “Build &amp; Hack with Gemma 4.0” sprint. All demo data synthetic — no real PHI. © Obscura contributors, Apache-2.0.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01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182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┌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228600" y="6309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2920" y="2286000"/>
            <a:ext cx="11183112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fast as AI.</a:t>
            </a:r>
            <a:endParaRPr lang="en-US" sz="3400" dirty="0"/>
          </a:p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private as a locked filing cabinet.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02920" y="3977640"/>
            <a:ext cx="11183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FC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models made this inevitable. We just built it first.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4846320"/>
            <a:ext cx="11183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spc="100" kern="0" dirty="0">
                <a:solidFill>
                  <a:srgbClr val="B9B9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OBSCURA   ·   GITHUB.COM/MEETKPATEL/OBSCURA   ·   BUILT ON GEMMA 4   ·   APACHE-2.0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509760" y="64008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5555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-+++++-+-++++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2026-07-18T23:49:23Z</dcterms:created>
  <dcterms:modified xsi:type="dcterms:W3CDTF">2026-07-18T23:49:23Z</dcterms:modified>
</cp:coreProperties>
</file>