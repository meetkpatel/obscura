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hero_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148840"/>
            <a:ext cx="10908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640080" y="37033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C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tools. One laptop. Zero cloud.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43891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C9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AI for the clinics America runs 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burnou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192024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FC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hours</a:t>
            </a:r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a desk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2FC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hour</a:t>
            </a:r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a patient.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0" y="44348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a doctor’s day now — and one in five say they intend to leave medicine within two years.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time-motion study, Annals of Internal Medicine  ·  intent-to-leave: Mayo Clinic Proceedings physician survey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087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clinics that need AI most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ones that can’t use it.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4480560"/>
            <a:ext cx="9262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costs hundreds per doctor per month  ·  won’t sign a HIPAA agreement  ·  assumes an IT department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087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5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upload is the breach.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463040" y="4480560"/>
            <a:ext cx="9262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patient record to a cloud AI to ask “what’s sensitive?” is itself the disclosure.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087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models changed everything.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463040" y="4480560"/>
            <a:ext cx="9262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 ·  Apache-2.0  ·  frontier reasoning on a stock laptop — no account, no fee, no network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Four prongs.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94767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C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6000" y="17830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Transcribe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0" y="17830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writes itself.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2633472"/>
            <a:ext cx="9418320" cy="10973"/>
          </a:xfrm>
          <a:prstGeom prst="rect">
            <a:avLst/>
          </a:prstGeom>
          <a:solidFill>
            <a:srgbClr val="26364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8803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C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71576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Redact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0" y="271576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record, not the patient.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566160"/>
            <a:ext cx="9418320" cy="10973"/>
          </a:xfrm>
          <a:prstGeom prst="rect">
            <a:avLst/>
          </a:prstGeom>
          <a:solidFill>
            <a:srgbClr val="26364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81304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C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364845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83680" y="364845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$0 IT department.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71600" y="4498848"/>
            <a:ext cx="9418320" cy="10973"/>
          </a:xfrm>
          <a:prstGeom prst="rect">
            <a:avLst/>
          </a:prstGeom>
          <a:solidFill>
            <a:srgbClr val="26364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74573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C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0" y="458114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83680" y="458114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that name themselves.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 A human approves.  It verifies itself.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happens inside the laptop.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697480" y="1691640"/>
            <a:ext cx="6903720" cy="2880360"/>
          </a:xfrm>
          <a:prstGeom prst="roundRect">
            <a:avLst>
              <a:gd name="adj" fmla="val 3810"/>
            </a:avLst>
          </a:prstGeom>
          <a:solidFill>
            <a:srgbClr val="142438"/>
          </a:solidFill>
          <a:ln w="19050">
            <a:solidFill>
              <a:srgbClr val="2FC49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971800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C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CLINIC'S LAPTOP  —  THE TRUST BOUNDARY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1600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audio</a:t>
            </a:r>
            <a:endParaRPr lang="en-US" sz="1400" dirty="0"/>
          </a:p>
          <a:p>
            <a:pPr algn="r" indent="0" marL="0">
              <a:lnSpc>
                <a:spcPts val="2200"/>
              </a:lnSpc>
              <a:buNone/>
            </a:pPr>
            <a:endParaRPr lang="en-US" sz="14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  <a:p>
            <a:pPr algn="r" indent="0" marL="0">
              <a:lnSpc>
                <a:spcPts val="2200"/>
              </a:lnSpc>
              <a:buNone/>
            </a:pPr>
            <a:endParaRPr lang="en-US" sz="14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71800" y="2514600"/>
            <a:ext cx="1463040" cy="1691640"/>
          </a:xfrm>
          <a:prstGeom prst="roundRect">
            <a:avLst>
              <a:gd name="adj" fmla="val 5000"/>
            </a:avLst>
          </a:prstGeom>
          <a:solidFill>
            <a:srgbClr val="0A1420"/>
          </a:solidFill>
          <a:ln w="12700">
            <a:solidFill>
              <a:srgbClr val="3146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26664" y="3127248"/>
            <a:ext cx="13533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· Luhn · collectors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16552" y="306324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99432" y="2514600"/>
            <a:ext cx="1463040" cy="1691640"/>
          </a:xfrm>
          <a:prstGeom prst="roundRect">
            <a:avLst>
              <a:gd name="adj" fmla="val 5000"/>
            </a:avLst>
          </a:prstGeom>
          <a:solidFill>
            <a:srgbClr val="0E2A22"/>
          </a:solidFill>
          <a:ln w="25400">
            <a:solidFill>
              <a:srgbClr val="2FC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2FC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54296" y="3127248"/>
            <a:ext cx="13533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· reasons · classifies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44184" y="306324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7064" y="2514600"/>
            <a:ext cx="1463040" cy="1691640"/>
          </a:xfrm>
          <a:prstGeom prst="roundRect">
            <a:avLst>
              <a:gd name="adj" fmla="val 5000"/>
            </a:avLst>
          </a:prstGeom>
          <a:solidFill>
            <a:srgbClr val="0A1420"/>
          </a:solidFill>
          <a:ln w="12700">
            <a:solidFill>
              <a:srgbClr val="3146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81928" y="3127248"/>
            <a:ext cx="13533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clicks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always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71816" y="306324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54696" y="2514600"/>
            <a:ext cx="1463040" cy="1691640"/>
          </a:xfrm>
          <a:prstGeom prst="roundRect">
            <a:avLst>
              <a:gd name="adj" fmla="val 5000"/>
            </a:avLst>
          </a:prstGeom>
          <a:solidFill>
            <a:srgbClr val="0A1420"/>
          </a:solidFill>
          <a:ln w="12700">
            <a:solidFill>
              <a:srgbClr val="3146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54696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09560" y="3127248"/>
            <a:ext cx="13533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its own 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re-OCR · journal · undo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4692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195560" y="214884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note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PDF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03320" y="5687568"/>
            <a:ext cx="146304" cy="146304"/>
          </a:xfrm>
          <a:prstGeom prst="ellipse">
            <a:avLst/>
          </a:prstGeom>
          <a:solidFill>
            <a:srgbClr val="2FC49E"/>
          </a:solidFill>
          <a:ln/>
        </p:spPr>
      </p:sp>
      <p:sp>
        <p:nvSpPr>
          <p:cNvPr id="25" name="Text 23"/>
          <p:cNvSpPr/>
          <p:nvPr/>
        </p:nvSpPr>
        <p:spPr>
          <a:xfrm>
            <a:off x="3977640" y="5532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egress: 0  —  pull the Wi-Fi and everything still works.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destroys data — and proves it.</a:t>
            </a:r>
            <a:endParaRPr lang="en-US" sz="4600" dirty="0"/>
          </a:p>
        </p:txBody>
      </p:sp>
      <p:pic>
        <p:nvPicPr>
          <p:cNvPr id="3" name="Image 0" descr="img_redac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544068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874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C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001000" y="19202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characters after redaction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92240" y="3017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C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001000" y="30632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Safe Harbor identifiers in the coverage panel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C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001000" y="42062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self-run verification checks on every export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4864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Select-all  ·  text-search  ·  re-OCR  ·  metadata audit — the tool attacks its own output before you trust 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9087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Free. Forever. For everyone.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463040" y="3474720"/>
            <a:ext cx="9262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 ·  runs on the laptop the clinic already owns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0"/>
            <a:ext cx="99943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scribes run $299–$1,512 per doctor, per month. Redaction suites, $279+/user. IT support, $150/user.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replaces that stack at $0 — for the clinics the $300M cloud-scribe market doesn’t serve.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61320" y="6419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5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huma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35040" y="0"/>
            <a:ext cx="64008" cy="6858000"/>
          </a:xfrm>
          <a:prstGeom prst="rect">
            <a:avLst/>
          </a:prstGeom>
          <a:solidFill>
            <a:srgbClr val="2FC49E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0" y="1234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what the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is for.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92240" y="29718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DC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fast as AI.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C9DC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private as a locked filing cabinet.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92240" y="40690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models made this inevitable. We just built it first.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92240" y="4617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700" kern="0" dirty="0">
                <a:solidFill>
                  <a:srgbClr val="2FC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92240" y="5257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github.com/meetkpatel/Obscura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Gemma 4  ·  Apache-2.0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2026-07-18T23:25:38Z</dcterms:created>
  <dcterms:modified xsi:type="dcterms:W3CDTF">2026-07-18T23:25:38Z</dcterms:modified>
</cp:coreProperties>
</file>